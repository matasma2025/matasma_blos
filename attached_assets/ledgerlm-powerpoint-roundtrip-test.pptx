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DejaVu Sans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6DB3CEAE-0D13-42A2-B1A7-84E9C2F4FA05}" type="slidenum">
              <a:rPr b="0" lang="en-US" sz="1400" strike="noStrike" u="none">
                <a:solidFill>
                  <a:srgbClr val="000000"/>
                </a:solidFill>
                <a:uFillTx/>
                <a:latin typeface="DejaVu 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144346-C618-458D-A001-12BAEA9D870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384120" y="255960"/>
            <a:ext cx="11155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43b45"/>
                </a:solidFill>
                <a:uFillTx/>
                <a:latin typeface="Aptos Display"/>
                <a:ea typeface="Aptos Display"/>
              </a:rPr>
              <a:t>Entity P&amp;L – All entities</a:t>
            </a:r>
            <a:endParaRPr b="0" lang="en-US" sz="24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sp>
        <p:nvSpPr>
          <p:cNvPr id="7" name="Text 1"/>
          <p:cNvSpPr/>
          <p:nvPr/>
        </p:nvSpPr>
        <p:spPr>
          <a:xfrm>
            <a:off x="393120" y="713160"/>
            <a:ext cx="111553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8666b"/>
                </a:solidFill>
                <a:uFillTx/>
                <a:latin typeface="Aptos"/>
                <a:ea typeface="Aptos"/>
              </a:rPr>
              <a:t>Jul 2026 MTD · QOQ versus Apr 2026 MTD · Values in INR</a:t>
            </a:r>
            <a:endParaRPr b="0" lang="en-US" sz="90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  <p:graphicFrame>
        <p:nvGraphicFramePr>
          <p:cNvPr id="8" name="Table 0"/>
          <p:cNvGraphicFramePr/>
          <p:nvPr/>
        </p:nvGraphicFramePr>
        <p:xfrm>
          <a:off x="384120" y="1042560"/>
          <a:ext cx="11201040" cy="4818600"/>
        </p:xfrm>
        <a:graphic>
          <a:graphicData uri="http://schemas.openxmlformats.org/drawingml/2006/table">
            <a:tbl>
              <a:tblPr/>
              <a:tblGrid>
                <a:gridCol w="1874520"/>
                <a:gridCol w="1865160"/>
                <a:gridCol w="1865160"/>
                <a:gridCol w="1865160"/>
                <a:gridCol w="1865160"/>
                <a:gridCol w="1865160"/>
              </a:tblGrid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Line item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Jul 2026 MTD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Apr 2026 MTD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Dec 2025 YE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Variance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%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Revenue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Employee Benefits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Outsourcing Cost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Consultancy Charges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CI Charges &amp; Other Revenue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Facilities Cost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Other Expenses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Total Expenses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EBIT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EBIT%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End Capacity On-roll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28,671.5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End Capacity Outsourcing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3,884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Total End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32,555.5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Avg Capacity Overall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Avg Capacity Outsourcing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320"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Total Average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1680" rIns="31680" tIns="31680" bIns="3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700" strike="noStrike" u="none">
                          <a:solidFill>
                            <a:srgbClr val="1f2937"/>
                          </a:solidFill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b="0" lang="en-US" sz="700" strike="noStrike" u="none">
                        <a:solidFill>
                          <a:srgbClr val="000000"/>
                        </a:solidFill>
                        <a:uFillTx/>
                        <a:latin typeface="DejaVu Sans"/>
                      </a:endParaRPr>
                    </a:p>
                  </a:txBody>
                  <a:tcPr anchor="t" marL="31680" marR="31680">
                    <a:lnL w="5040">
                      <a:solidFill>
                        <a:srgbClr val="d8dee4"/>
                      </a:solidFill>
                      <a:prstDash val="solid"/>
                    </a:lnL>
                    <a:lnR w="5040">
                      <a:solidFill>
                        <a:srgbClr val="d8dee4"/>
                      </a:solidFill>
                      <a:prstDash val="solid"/>
                    </a:lnR>
                    <a:lnT w="5040">
                      <a:solidFill>
                        <a:srgbClr val="d8dee4"/>
                      </a:solidFill>
                      <a:prstDash val="solid"/>
                    </a:lnT>
                    <a:lnB w="5040">
                      <a:solidFill>
                        <a:srgbClr val="d8de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2"/>
          <p:cNvSpPr/>
          <p:nvPr/>
        </p:nvSpPr>
        <p:spPr>
          <a:xfrm>
            <a:off x="384120" y="6336720"/>
            <a:ext cx="11063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640" strike="noStrike" u="none">
                <a:solidFill>
                  <a:srgbClr val="667085"/>
                </a:solidFill>
                <a:uFillTx/>
                <a:latin typeface="Aptos"/>
                <a:ea typeface="Aptos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b="0" lang="en-US" sz="640" strike="noStrike" u="none">
              <a:solidFill>
                <a:srgbClr val="000000"/>
              </a:solidFill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LibreOffice/24.8.7.2$Linux_X86_64 LibreOffice_project/480$Build-2</Application>
  <AppVersion>15.0000</AppVersion>
  <Words>0</Words>
  <Paragraphs>0</Paragraphs>
  <Company>LedgerLM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2026-09-29T13:01:04Z</dcterms:created>
  <dc:creator>LedgerLM</dc:creator>
  <dc:description/>
  <dc:language>en-US</dc:language>
  <cp:lastModifiedBy>LedgerLM</cp:lastModifiedBy>
  <dcterms:modified xsi:type="dcterms:W3CDTF">2026-09-29T13:01:04Z</dcterms:modified>
  <cp:revision>1</cp:revision>
  <dc:subject>Entity P&amp;L standalone analysis</dc:subject>
  <dc:title>2026 — Deterministic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On-screen Show (16:9)</vt:lpwstr>
  </property>
  <property fmtid="{D5CDD505-2E9C-101B-9397-08002B2CF9AE}" pid="4" name="Slides">
    <vt:r8>1</vt:r8>
  </property>
</Properties>
</file>