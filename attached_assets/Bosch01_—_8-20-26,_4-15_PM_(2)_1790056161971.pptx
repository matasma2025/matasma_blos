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23629.73</c:v>
                </c:pt>
                <c:pt idx="1">
                  <c:v>15425.05</c:v>
                </c:pt>
                <c:pt idx="2">
                  <c:v>8228.44</c:v>
                </c:pt>
                <c:pt idx="3">
                  <c:v>15142.79</c:v>
                </c:pt>
                <c:pt idx="4">
                  <c:v>7945.14</c:v>
                </c:pt>
                <c:pt idx="5">
                  <c:v>10977.72</c:v>
                </c:pt>
                <c:pt idx="6">
                  <c:v>12815.6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Cash &amp;
equivalents</c:v>
                  </c:pt>
                  <c:pt idx="1">
                    <c:v>Trade
receivables</c:v>
                  </c:pt>
                  <c:pt idx="2">
                    <c:v>Other
current</c:v>
                  </c:pt>
                  <c:pt idx="3">
                    <c:v>Investments</c:v>
                  </c:pt>
                  <c:pt idx="4">
                    <c:v>Right-of-use
assets</c:v>
                  </c:pt>
                  <c:pt idx="5">
                    <c:v>Fixed assets</c:v>
                  </c:pt>
                  <c:pt idx="6">
                    <c:v>Other
non-current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16077.8</c:v>
                </c:pt>
                <c:pt idx="1">
                  <c:v>24658.81</c:v>
                </c:pt>
                <c:pt idx="2">
                  <c:v>6678.53</c:v>
                </c:pt>
                <c:pt idx="3">
                  <c:v>18830.8</c:v>
                </c:pt>
                <c:pt idx="4">
                  <c:v>8430.26</c:v>
                </c:pt>
                <c:pt idx="5">
                  <c:v>11192.24</c:v>
                </c:pt>
                <c:pt idx="6">
                  <c:v>13077.25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52905.39</c:v>
                </c:pt>
                <c:pt idx="1">
                  <c:v>11411.06</c:v>
                </c:pt>
                <c:pt idx="2">
                  <c:v>9535.71</c:v>
                </c:pt>
                <c:pt idx="3">
                  <c:v>4671.53</c:v>
                </c:pt>
                <c:pt idx="4">
                  <c:v>9004.29</c:v>
                </c:pt>
                <c:pt idx="5">
                  <c:v>6636.51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Equity &amp;
reserves</c:v>
                  </c:pt>
                  <c:pt idx="1">
                    <c:v>Trade
payables</c:v>
                  </c:pt>
                  <c:pt idx="2">
                    <c:v>Lease
liabilities</c:v>
                  </c:pt>
                  <c:pt idx="3">
                    <c:v>Provisions</c:v>
                  </c:pt>
                  <c:pt idx="4">
                    <c:v>Other
liabilities</c:v>
                  </c:pt>
                  <c:pt idx="5">
                    <c:v>Non-current
liab. &amp; prov.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57995.18</c:v>
                </c:pt>
                <c:pt idx="1">
                  <c:v>9117.49</c:v>
                </c:pt>
                <c:pt idx="2">
                  <c:v>10070.85</c:v>
                </c:pt>
                <c:pt idx="3">
                  <c:v>4224.25</c:v>
                </c:pt>
                <c:pt idx="4">
                  <c:v>12310.75</c:v>
                </c:pt>
                <c:pt idx="5">
                  <c:v>5227.16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-3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265176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52744" y="832104"/>
            <a:ext cx="5870448" cy="5184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Cash equivalents: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assets were 47,283 mINR at Jun-26 vs 47,415 mINR at Mar-26, while composition changed sharply: Cash &amp; cash equivalents increased to 23,630 mINR (from 16,078 mINR) and Trade receivables &amp; unbilled decreased to 15,425 mINR (from 24,659 mINR).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the largest underlying line-item shifts to Bank balances ≤ 90 days (+10,460 mINR) and Trade receivables - K (-8,737 mINR), alongside Money market funds - FVPL (-2,908 mINR) and Loans ≤ 1 y - K (+929.22 mINR).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shows the reallocation but not the operational/transactional driver behind it.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assets decreased to 46,881 mINR at Jun-26 from 51,531 mINR at Mar-26.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major underlying decreases to Total: Investments (wo B-a) (-3,688 mINR) and Other financial receivables &gt; 1 y - 3rd, B-c, B-f (-227.57 mINR), partially offset by increases in Deferred tax assets (+313.60 mINR) and Loans &gt; 1 y - 3rd, B-c, B-f (+382.49 mINR).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does not disclose the detailed security/receivable components behind these totals.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8,228 mINR at Jun-26 vs 6,679 mINR at Mar-26: +1,550 mINR (+23.2%).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Investments in Group Entities: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15,143 mINR at Jun-26 vs 18,831 mINR at Mar-26: -3,688 mINR (-19.6%).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10,978 mINR at Jun-26 vs 11,192 mINR at Mar-26: -215 mINR (-1.9%).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Noncurrent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12,816 mINR at Jun-26 vs 13,077 mINR at Mar-26: -262 mINR (-2.0%).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Right-of-use assets: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7,945 mINR at Jun-26 vs 8,430 mINR at Mar-26: -485 mINR (-5.8%).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3959352"/>
            <a:ext cx="2889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256032" y="4261104"/>
            <a:ext cx="5458968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Receivables concentration shifted: Trade receivables &amp; unbilled fell to 15,425 mINR at Jun-26 (from 24,659 mINR at Mar-26), driven heavily by Trade receivables - K (-8,737 mINR); the dataset does not identify the counterparty/invoice drivers behind this change.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 assets</a:t>
            </a:r>
            <a:endParaRPr lang="en-US" sz="850" dirty="0"/>
          </a:p>
          <a:p>
            <a:pPr marL="152400" indent="-152400">
              <a:buSzPct val="100000"/>
              <a:buChar char="•"/>
            </a:pPr>
            <a:r>
              <a:rPr lang="en-US" sz="85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flagged from the data — add from supporting schedules.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Concentration watch: at Jun-26, Cash &amp; cash equivalents were 23,630 mINR (~25.1% of total assets), with key components moving sharply (e.g., Bank balances ≤ 90 days +670.2% vs Mar-26), which warrants reconciliation to underlying treasury/clearing accounts outside this dataset.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68" y="484632"/>
            <a:ext cx="1045159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Jun-26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9048" y="978408"/>
            <a:ext cx="5065776" cy="4892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liabilities decreased to 34,623 mINR at Jun-26 from 35,723 mINR at Mar-26.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indicates reductions in Financial liabil. to board members, employees ≤ 1 y (-1,370 mINR) and Derivatives w/o hedge ≤ 1 y - 3rd (-962.29 mINR), partly offset by higher Trade payables (e.g., Trade payables - 3rd, B-c, B-f +1,459 mINR;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 - K +814.40 mINR) and higher Sundry other provisions ≤ 1 y (+407.49 mINR).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dataset shows which liability captions moved, but not the underlying agreements/settlements.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9,004 mINR at Jun-26 vs 12,311 mINR at Mar-26: -3,306 mINR (-26.9%).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 declined to 52,905 mINR at Jun-26 from 57,995 mINR at Mar-26.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movement table attributes this primarily to Total: Earned surplus reserves decreasing by -5,090 mINR (-8.8%).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further breakdown is provided in this dataset to attribute the reserve movement to specific postings or events.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9,536 mINR at Jun-26 vs 10,071 mINR at Mar-26: -535 mINR (-5.3%).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4,672 mINR at Jun-26 vs 4,224 mINR at Mar-26: +447 mINR (+10.6%). No further commentary generated for this line.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Non-current liabilities &amp; provisions: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6,637 mINR at Jun-26 vs 5,227 mINR at Mar-26: +1,409 mINR (+27.0%). No further commentary generated for this line.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3776" y="400507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mINR.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493776" y="4197096"/>
            <a:ext cx="5330952" cy="18013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 declined to 52,905 mINR at Jun-26 from 57,995 mINR at Mar-26, with debt-to-equity rising to 0.78 (from 0.71); if this trend continues, solvency headroom could tighten despite the still-strong equity ratio (56.2%).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29768" y="996696"/>
          <a:ext cx="4892040" cy="2724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2026-08-20T12:35:35Z</dcterms:created>
  <dcterms:modified xsi:type="dcterms:W3CDTF">2026-08-20T12:35:35Z</dcterms:modified>
</cp:coreProperties>
</file>