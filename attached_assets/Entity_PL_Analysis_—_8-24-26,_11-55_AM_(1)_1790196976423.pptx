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0073"/>
                </a:solidFill>
              </a:rPr>
              <a:t>P&amp;L Q3'25 – QoQ : July'25 v Apr'25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D88"/>
                </a:solidFill>
              </a:rPr>
              <a:t>Entity: All entities · Jul 2025 MTD vs Apr 2025 MTD · QoQ MTD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663440" y="969264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i="1" dirty="0">
                <a:solidFill>
                  <a:srgbClr val="263238"/>
                </a:solidFill>
              </a:rPr>
              <a:t>Values in mINR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207008"/>
          <a:ext cx="5522976" cy="4782312"/>
        </p:xfrm>
        <a:graphic>
          <a:graphicData uri="http://schemas.openxmlformats.org/drawingml/2006/table">
            <a:tbl>
              <a:tblPr/>
              <a:tblGrid>
                <a:gridCol w="1499616"/>
                <a:gridCol w="621792"/>
                <a:gridCol w="621792"/>
                <a:gridCol w="704088"/>
                <a:gridCol w="704088"/>
                <a:gridCol w="704088"/>
                <a:gridCol w="402336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All entities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Dec 2024 YE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CF02 MTD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Jul 2025 MTD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Apr 2025 MTD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Variance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Revenue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9,848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3,427,973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88,748,172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-85,320,199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-96.1%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Employee Benefits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4,872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-26,733,527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-36,984,097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10,250,570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27.7%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Outsourcing Cost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488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-556,655,731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459,811,038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-1,016,466,769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-221.1%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Consultancy Charges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309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313,437,304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-344,520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313,781,824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91078.0%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CI Charges &amp; Other Revenue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852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-688,753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-1,418,974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730,221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51.5%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Facilities Cost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406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42,119,848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114,122,744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-72,002,896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-63.1%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Other Expenses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31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-141,657,602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477,102,893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-618,760,495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-129.7%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Total Expenses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7,849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12,536,812,043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218,811,167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12,318,000,876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5629.5%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EBIT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1,998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-12,533,384,070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-130,062,995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-12,403,321,075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-9536.4%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EBIT%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20.3%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-365620.8%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-146.6%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-365474.3%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-249380.5%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End Capacity On-roll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24,223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2,684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2,704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-20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-0.8%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End Capacity Outsourcing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3,109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277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278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-1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-0.3%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Total End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27,332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2,961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2,983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-21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-0.7%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Avg Capacity Overall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24,699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2,689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2,689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0.0%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Avg Capacity Outsourcing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2,889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284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284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0.0%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Total Average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27,588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2,973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2,972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0.0%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72784" y="114300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Revenue and EBIT:</a:t>
            </a:r>
            <a:endParaRPr lang="en-US" sz="740" dirty="0"/>
          </a:p>
        </p:txBody>
      </p:sp>
      <p:sp>
        <p:nvSpPr>
          <p:cNvPr id="7" name="Text 4"/>
          <p:cNvSpPr/>
          <p:nvPr/>
        </p:nvSpPr>
        <p:spPr>
          <a:xfrm>
            <a:off x="7589520" y="1143000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Jul 2025 MTD revenue is ₹3,427,973 and EBIT is ₹-12,533,384,070. Underlying business causes require owner commentary.</a:t>
            </a:r>
            <a:endParaRPr lang="en-US" sz="625" dirty="0"/>
          </a:p>
        </p:txBody>
      </p:sp>
      <p:sp>
        <p:nvSpPr>
          <p:cNvPr id="8" name="Text 5"/>
          <p:cNvSpPr/>
          <p:nvPr/>
        </p:nvSpPr>
        <p:spPr>
          <a:xfrm>
            <a:off x="6272784" y="176479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Outsourcing Cost:</a:t>
            </a:r>
            <a:endParaRPr lang="en-US" sz="740" dirty="0"/>
          </a:p>
        </p:txBody>
      </p:sp>
      <p:sp>
        <p:nvSpPr>
          <p:cNvPr id="9" name="Text 6"/>
          <p:cNvSpPr/>
          <p:nvPr/>
        </p:nvSpPr>
        <p:spPr>
          <a:xfrm>
            <a:off x="7589520" y="1764792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0" name="Text 7"/>
          <p:cNvSpPr/>
          <p:nvPr/>
        </p:nvSpPr>
        <p:spPr>
          <a:xfrm>
            <a:off x="6272784" y="2386584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Consultancy Charges:</a:t>
            </a:r>
            <a:endParaRPr lang="en-US" sz="740" dirty="0"/>
          </a:p>
        </p:txBody>
      </p:sp>
      <p:sp>
        <p:nvSpPr>
          <p:cNvPr id="11" name="Text 8"/>
          <p:cNvSpPr/>
          <p:nvPr/>
        </p:nvSpPr>
        <p:spPr>
          <a:xfrm>
            <a:off x="7589520" y="2386584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2" name="Text 9"/>
          <p:cNvSpPr/>
          <p:nvPr/>
        </p:nvSpPr>
        <p:spPr>
          <a:xfrm>
            <a:off x="6272784" y="30083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CI Charges &amp; Other Revenue:</a:t>
            </a:r>
            <a:endParaRPr lang="en-US" sz="740" dirty="0"/>
          </a:p>
        </p:txBody>
      </p:sp>
      <p:sp>
        <p:nvSpPr>
          <p:cNvPr id="13" name="Text 10"/>
          <p:cNvSpPr/>
          <p:nvPr/>
        </p:nvSpPr>
        <p:spPr>
          <a:xfrm>
            <a:off x="7589520" y="3008376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4" name="Text 11"/>
          <p:cNvSpPr/>
          <p:nvPr/>
        </p:nvSpPr>
        <p:spPr>
          <a:xfrm>
            <a:off x="6272784" y="3630168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Facilities Cost: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7589520" y="3630168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6" name="Text 13"/>
          <p:cNvSpPr/>
          <p:nvPr/>
        </p:nvSpPr>
        <p:spPr>
          <a:xfrm>
            <a:off x="6272784" y="425196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Other Expenses:</a:t>
            </a:r>
            <a:endParaRPr lang="en-US" sz="740" dirty="0"/>
          </a:p>
        </p:txBody>
      </p:sp>
      <p:sp>
        <p:nvSpPr>
          <p:cNvPr id="17" name="Text 14"/>
          <p:cNvSpPr/>
          <p:nvPr/>
        </p:nvSpPr>
        <p:spPr>
          <a:xfrm>
            <a:off x="7589520" y="4251960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8" name="Text 15"/>
          <p:cNvSpPr/>
          <p:nvPr/>
        </p:nvSpPr>
        <p:spPr>
          <a:xfrm>
            <a:off x="438912" y="6099048"/>
            <a:ext cx="7955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65747A"/>
                </a:solidFill>
              </a:rPr>
              <a:t>Read-only run from the selected Enterprise cube across all entity rows, including blank entity values.</a:t>
            </a:r>
            <a:endParaRPr lang="en-US" sz="570" dirty="0"/>
          </a:p>
        </p:txBody>
      </p:sp>
      <p:sp>
        <p:nvSpPr>
          <p:cNvPr id="19" name="Text 16"/>
          <p:cNvSpPr/>
          <p:nvPr/>
        </p:nvSpPr>
        <p:spPr>
          <a:xfrm>
            <a:off x="10771632" y="60899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0015"/>
                </a:solidFill>
              </a:rPr>
              <a:t>BOSCH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6565392"/>
            <a:ext cx="2834640" cy="292608"/>
          </a:xfrm>
          <a:prstGeom prst="rect">
            <a:avLst/>
          </a:prstGeom>
          <a:solidFill>
            <a:srgbClr val="E20015"/>
          </a:solidFill>
          <a:ln w="12700">
            <a:solidFill>
              <a:srgbClr val="E2001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834640" y="6565392"/>
            <a:ext cx="1234440" cy="292608"/>
          </a:xfrm>
          <a:prstGeom prst="rect">
            <a:avLst/>
          </a:prstGeom>
          <a:solidFill>
            <a:srgbClr val="743B8E"/>
          </a:solidFill>
          <a:ln w="12700">
            <a:solidFill>
              <a:srgbClr val="743B8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069080" y="6565392"/>
            <a:ext cx="1463040" cy="292608"/>
          </a:xfrm>
          <a:prstGeom prst="rect">
            <a:avLst/>
          </a:prstGeom>
          <a:solidFill>
            <a:srgbClr val="006B76"/>
          </a:solidFill>
          <a:ln w="12700">
            <a:solidFill>
              <a:srgbClr val="006B7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32120" y="6565392"/>
            <a:ext cx="2011680" cy="292608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543800" y="6565392"/>
            <a:ext cx="1188720" cy="292608"/>
          </a:xfrm>
          <a:prstGeom prst="rect">
            <a:avLst/>
          </a:prstGeom>
          <a:solidFill>
            <a:srgbClr val="37A757"/>
          </a:solidFill>
          <a:ln w="12700">
            <a:solidFill>
              <a:srgbClr val="37A75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32520" y="6565392"/>
            <a:ext cx="3456432" cy="292608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2026-09-17T06:07:30Z</dcterms:created>
  <dcterms:modified xsi:type="dcterms:W3CDTF">2026-09-17T06:07:30Z</dcterms:modified>
</cp:coreProperties>
</file>