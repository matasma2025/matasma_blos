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
equivalents</c:v>
                  </c:pt>
                  <c:pt idx="1">
                    <c:v>Trade
receivables</c:v>
                  </c:pt>
                  <c:pt idx="2">
                    <c:v>Other
current</c:v>
                  </c:pt>
                  <c:pt idx="3">
                    <c:v>Investments</c:v>
                  </c:pt>
                  <c:pt idx="4">
                    <c:v>Right-of-use
assets</c:v>
                  </c:pt>
                  <c:pt idx="5">
                    <c:v>Fixed assets</c:v>
                  </c:pt>
                  <c:pt idx="6">
                    <c:v>Other
non-current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</c:v>
                </c:pt>
                <c:pt idx="1">
                  <c:v>15425.05</c:v>
                </c:pt>
                <c:pt idx="2">
                  <c:v>8228.44</c:v>
                </c:pt>
                <c:pt idx="3">
                  <c:v>15142.79</c:v>
                </c:pt>
                <c:pt idx="4">
                  <c:v>7945.14</c:v>
                </c:pt>
                <c:pt idx="5">
                  <c:v>10977.72</c:v>
                </c:pt>
                <c:pt idx="6">
                  <c:v>12815.6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
equivalents</c:v>
                  </c:pt>
                  <c:pt idx="1">
                    <c:v>Trade
receivables</c:v>
                  </c:pt>
                  <c:pt idx="2">
                    <c:v>Other
current</c:v>
                  </c:pt>
                  <c:pt idx="3">
                    <c:v>Investments</c:v>
                  </c:pt>
                  <c:pt idx="4">
                    <c:v>Right-of-use
assets</c:v>
                  </c:pt>
                  <c:pt idx="5">
                    <c:v>Fixed assets</c:v>
                  </c:pt>
                  <c:pt idx="6">
                    <c:v>Other
non-current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</c:v>
                </c:pt>
                <c:pt idx="1">
                  <c:v>24658.81</c:v>
                </c:pt>
                <c:pt idx="2">
                  <c:v>6678.53</c:v>
                </c:pt>
                <c:pt idx="3">
                  <c:v>18830.8</c:v>
                </c:pt>
                <c:pt idx="4">
                  <c:v>8430.26</c:v>
                </c:pt>
                <c:pt idx="5">
                  <c:v>11192.24</c:v>
                </c:pt>
                <c:pt idx="6">
                  <c:v>13077.25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-3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
reserves</c:v>
                  </c:pt>
                  <c:pt idx="1">
                    <c:v>Trade
payables</c:v>
                  </c:pt>
                  <c:pt idx="2">
                    <c:v>Lease
liabilities</c:v>
                  </c:pt>
                  <c:pt idx="3">
                    <c:v>Provisions</c:v>
                  </c:pt>
                  <c:pt idx="4">
                    <c:v>Other
liabilities</c:v>
                  </c:pt>
                  <c:pt idx="5">
                    <c:v>Non-current
liab. &amp; prov.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52905.39</c:v>
                </c:pt>
                <c:pt idx="1">
                  <c:v>11411.06</c:v>
                </c:pt>
                <c:pt idx="2">
                  <c:v>9535.71</c:v>
                </c:pt>
                <c:pt idx="3">
                  <c:v>4671.53</c:v>
                </c:pt>
                <c:pt idx="4">
                  <c:v>9004.29</c:v>
                </c:pt>
                <c:pt idx="5">
                  <c:v>6636.51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
reserves</c:v>
                  </c:pt>
                  <c:pt idx="1">
                    <c:v>Trade
payables</c:v>
                  </c:pt>
                  <c:pt idx="2">
                    <c:v>Lease
liabilities</c:v>
                  </c:pt>
                  <c:pt idx="3">
                    <c:v>Provisions</c:v>
                  </c:pt>
                  <c:pt idx="4">
                    <c:v>Other
liabilities</c:v>
                  </c:pt>
                  <c:pt idx="5">
                    <c:v>Non-current
liab. &amp; prov.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57995.18</c:v>
                </c:pt>
                <c:pt idx="1">
                  <c:v>9117.49</c:v>
                </c:pt>
                <c:pt idx="2">
                  <c:v>10070.85</c:v>
                </c:pt>
                <c:pt idx="3">
                  <c:v>4224.25</c:v>
                </c:pt>
                <c:pt idx="4">
                  <c:v>12310.75</c:v>
                </c:pt>
                <c:pt idx="5">
                  <c:v>5227.16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-3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Cash equivalents: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cash equivalents increased from 16,078 mINR (Mar-26) to 23,630 mINR (Jun-26).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attributes a major part of this to Bank balances ≤ 90 days rising from 1,561 mINR to 12,021 mINR (change 10,460 mINR, +670.2%).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 &amp; unbilled decreased from 24,659 mINR (Mar-26) to 15,425 mINR (Jun-26).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shows the main driver as Trade receivables - K falling from 21,422 mINR to 12,685 mINR (change -8,737 mINR, -40.8%), with an additional decline in Trade receivables - 3rd, B-c, B-f from 2,111 mINR to 1,671 mINR (change -439.12 mINR, -20.8%).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does not indicate where the offsetting balance accumulated beyond the visible increases in cash-like items and loans.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15,425 mINR at Jun-26 vs 24,659 mINR at Mar-26: -9,234 mINR (-37.4%).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8,228 mINR at Jun-26 vs 6,679 mINR at Mar-26: +1,550 mINR (+23.2%).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Investments in Group Entities: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Investments decreased from 18,831 mINR (Mar-26) to 15,143 mINR (Jun-26).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attributes this to Total: Investments (wo B-a) declining by -3,688 mINR (-19.6%) and Money market funds - FVPL declining by -2,908 mINR (-20.0%).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10,978 mINR at Jun-26 vs 11,192 mINR at Mar-26: -215 mINR (-1.9%).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Noncurrent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12,816 mINR at Jun-26 vs 13,077 mINR at Mar-26: -262 mINR (-2.0%).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Right-of-use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7,945 mINR at Jun-26 vs 8,430 mINR at Mar-26: -485 mINR (-5.8%). No further commentary generated for this line.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3959352"/>
            <a:ext cx="2889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256032" y="4261104"/>
            <a:ext cx="5458968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Receivables concentration/mix change: Trade receivables - K remains a major balance at Jun-26 (12,685 mINR, 13.5% of total assets) despite a large reduction vs Mar-26 (-8,737 mINR). Validate whether the reduction reflects reclassification to cash-like balances or other balance sheet lines (not identifiable from this dataset).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flagged from the data — add from supporting schedules.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Investment/cash allocation swing is material: Money market funds - FVPL decreased by -2,908 mINR (-20.0%) while Bank balances ≤ 90 days increased by 10,460 mINR (+670.2%); confirm treasury policy/constraints and classification (not identifiable from this dataset).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484632"/>
            <a:ext cx="104515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9048" y="978408"/>
            <a:ext cx="5065776" cy="4892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11,411 mINR at Jun-26 vs 9,117 mINR at Mar-26: +2,294 mINR (+25.2%).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9,004 mINR at Jun-26 vs 12,311 mINR at Mar-26: -3,306 mINR (-26.9%).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 decreased from 57,995 mINR (Mar-26) to 52,905 mINR (Jun-26).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shows Total: Earned surplus reserves decreased from 57,954 mINR to 52,864 mINR (change -5,090 mINR, -8.8%).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underlying driver of the earned surplus movement is not identifiable from this balance sheet dataset alone.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9,536 mINR at Jun-26 vs 10,071 mINR at Mar-26: -535 mINR (-5.3%).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4,672 mINR at Jun-26 vs 4,224 mINR at Mar-26: +447 mINR (+10.6%).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Non-current liabilities &amp; provisions: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6,637 mINR at Jun-26 vs 5,227 mINR at Mar-26: +1,409 mINR (+27.0%). No further commentary generated for this line.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400507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93776" y="4197096"/>
            <a:ext cx="5330952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 direction of travel worsened vs baseline: debt-to-equity increased from 0.71 (Mar-26) to 0.78 (Jun-26) and equity ratio fell from 58.6% to 56.2%—still strong, but a watch item if the trend continues.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2026-09-22T12:02:37Z</dcterms:created>
  <dcterms:modified xsi:type="dcterms:W3CDTF">2026-09-22T12:02:37Z</dcterms:modified>
</cp:coreProperties>
</file>