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 standalone="yes"?>
		<p:sldLayout xmlns:a="http://schemas.openxmlformats.org/drawingml/2006/main" xmlns:r="http://schemas.openxmlformats.org/officeDocument/2006/relationships" xmlns:p="http://schemas.openxmlformats.org/presentationml/2006/main" preserve="1">
		<p:cSld name="P&L_MASTER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6565392"/><a:ext cx="12188952" cy="292608"/></a:xfrm><a:prstGeom prst="rect"><a:avLst></a:avLst></a:prstGeom><a:solidFill><a:srgbClr val="00A7B5"/></a:solidFill><a:ln w="12700"><a:solidFill><a:srgbClr val="00A7B5"/></a:solidFill><a:prstDash val="solid"/></a:ln></p:spPr></p:sp><p:sp><p:nvSpPr><p:cNvPr id="3" name="Shape 1"></p:cNvPr><p:cNvSpPr/><p:nvPr></p:nvPr></p:nvSpPr><p:spPr><a:xfrm><a:off x="0" y="6565392"/><a:ext cx="7909560" cy="292608"/></a:xfrm><a:prstGeom prst="rect"><a:avLst></a:avLst></a:prstGeom><a:solidFill><a:srgbClr val="008A99"/></a:solidFill><a:ln w="12700"><a:solidFill><a:srgbClr val="008A99"/></a:solidFill><a:prstDash val="solid"/></a:ln></p:spPr></p:sp><p:sp><p:nvSpPr><p:cNvPr id="4" name="Shape 2"></p:cNvPr><p:cNvSpPr/><p:nvPr></p:nvPr></p:nvSpPr><p:spPr><a:xfrm><a:off x="7909560" y="6565392"/><a:ext cx="2423160" cy="292608"/></a:xfrm><a:prstGeom prst="rect"><a:avLst></a:avLst></a:prstGeom><a:solidFill><a:srgbClr val="E20015"/></a:solidFill><a:ln w="12700"><a:solidFill><a:srgbClr val="E20015"/></a:solidFill><a:prstDash val="solid"/></a:ln></p:spPr></p:sp><p:sp><p:nvSpPr><p:cNvPr id="5" name="Shape 3"></p:cNvPr><p:cNvSpPr/><p:nvPr></p:nvPr></p:nvSpPr><p:spPr><a:xfrm><a:off x="10332720" y="6565392"/><a:ext cx="1856232" cy="292608"/></a:xfrm><a:prstGeom prst="rect"><a:avLst></a:avLst></a:prstGeom><a:solidFill><a:srgbClr val="00A7B5"/></a:solidFill><a:ln w="12700"><a:solidFill><a:srgbClr val="00A7B5"/></a:solidFill><a:prstDash val="solid"/></a:ln></p:spPr></p:sp><p:sp><p:nvSpPr><p:cNvPr id="6" name="Text 4"></p:cNvPr><p:cNvSpPr/><p:nvPr></p:nvPr></p:nvSpPr><p:spPr><a:xfrm><a:off x="384048" y="6601968"/><a:ext cx="4023360" cy="10972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550" dirty="0"><a:solidFill><a:srgbClr val="FFFFFF"/></a:solidFill><a:latin typeface="Arial" pitchFamily="34" charset="0"/><a:ea typeface="Arial" pitchFamily="34" charset="-122"/><a:cs typeface="Arial" pitchFamily="34" charset="-120"/></a:rPr><a:t>Internal | Governed Enterprise Data</a:t></a:r><a:endParaRPr lang="en-US" sz="550" dirty="0"/></a:p></p:txBody></p:sp><p:sp><p:nvSpPr><p:cNvPr id="7" name="Text 5"></p:cNvPr><p:cNvSpPr/><p:nvPr></p:nvPr></p:nvSpPr><p:spPr><a:xfrm><a:off x="10817352" y="6574536"/><a:ext cx="822960" cy="164592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800" b="1" dirty="0"><a:solidFill><a:srgbClr val="FFFFFF"/></a:solidFill><a:latin typeface="Arial" pitchFamily="34" charset="0"/><a:ea typeface="Arial" pitchFamily="34" charset="-122"/><a:cs typeface="Arial" pitchFamily="34" charset="-120"/></a:rPr><a:t>BOSCH</a:t></a:r><a:endParaRPr lang="en-US" sz="800" dirty="0"/></a:p></p:txBody></p:sp><p:sp> <p:nvSpPr>  <p:cNvPr id="25" name="Slide Number Placeholder 0"/><p:cNvSpPr><a:spLocks noGrp="1"/></p:cNvSpPr>  <p:nvPr><p:ph type="sldNum" sz="quarter" idx="4294967295"/></p:nvPr> </p:nvSpPr> <p:spPr><a:xfrm><a:off x="329184" y="6345936"/><a:ext cx="800000" cy="300000"/></a:xfrm> <a:prstGeom prst="rect"><a:avLst/></a:prstGeom> <a:extLst><a:ext uri="{C572A759-6A51-4108-AA02-DFA0A04FC94B}"><ma14:wrappingTextBoxFlag val="0" xmlns:ma14="http://schemas.microsoft.com/office/mac/drawingml/2011/main"/></a:ext></a:extLst></p:spPr><p:txBody><a:bodyPr/>  <a:lstStyle><a:lvl1pPr><a:defRPr sz="700"><a:solidFill><a:srgbClr val="65747A"/></a:solidFill><a:latin typeface="Arial"/><a:ea typeface="Arial"/><a:cs typeface="Arial"/></a:defRPr></a:lvl1pPr></a:lstStyle><a:p><a:pPr algn="l"/><a:fld id="{F7021451-1387-4CA6-816F-3879F97B5CBC}" type="slidenum"><a:rPr b="0" lang="en-US"/><a:t>1002</a:t></a:fld><a:endParaRPr lang="en-US"/></a:p></p:txBody></p:sp></p:spTree></p:cSld>
		<p:clrMapOvr><a:masterClrMapping/></p:clrMapOvr>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4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H1'26 – YoY : June'26 v June'25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{{entity}}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{{comparison_label}}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{{as_of_month}}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170432"/>
          <a:ext cx="5504688" cy="4892040"/>
        </p:xfrm>
        <a:graphic>
          <a:graphicData uri="http://schemas.openxmlformats.org/drawingml/2006/table">
            <a:tbl>
              <a:tblPr/>
              <a:tblGrid>
                <a:gridCol w="1572768"/>
                <a:gridCol w="585216"/>
                <a:gridCol w="585216"/>
                <a:gridCol w="658368"/>
                <a:gridCol w="658368"/>
                <a:gridCol w="658368"/>
                <a:gridCol w="420624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BGSW India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CF05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overall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Driven by the below key factors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increase +1%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Favorable forex impact +8%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Utilization impact -9%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Non-Effort based billing +2%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increase INR 86/USD to INR 91.3/USD) – gain of 8%.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 increase is primarily on account of: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Pyramid mix -9.7%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CSR impact -21.3%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IRR impact including factor change +9.9%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Restructuring / debt factor like -4.2%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+15% due YOY Per PMO rate increase (Majorly in BD &amp; SDS) also outsourcing price impact.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+658mINR, largely due one-time costs and project-related charges.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on account of price increase, forex exchange rate impact and additional software purchases.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cost is on account of recovery from additional costs charged in FY22 &amp; H1'26.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is due to customer claim reversal, release of provision and other prior-period adjustments.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{{evidence_note}}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authorized Enterprise Data cube read at run time. Actual and CF scenarios remain separate.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4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LedgerLM</cp:lastModifiedBy>
  <cp:revision>1</cp:revision>
  <dcterms:created xsi:type="dcterms:W3CDTF">2026-08-20T14:19:35Z</dcterms:created>
  <dcterms:modified xsi:type="dcterms:W3CDTF">2026-08-20T14:19:35Z</dcterms:modified>
</cp:coreProperties>
</file>