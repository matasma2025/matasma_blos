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8412163"/>
  <p:notesSz cx="84121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{{report_month}}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{{ww_budget_revenue_summary}}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{{ww_budget_revenue_detail}}</a:t>
            </a:r>
          </a:p>
        </p:txBody>
      </p:sp>
      <p:sp>
        <p:nvSpPr>
          <p:cNvPr id="42" name="Text 40"/>
          <p:cNvSpPr/>
          <p:nvPr/>
        </p:nvSpPr>
        <p:spPr>
          <a:xfrm>
            <a:off x="603504" y="313019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</a:p>
        </p:txBody>
      </p:sp>
      <p:sp>
        <p:nvSpPr>
          <p:cNvPr id="43" name="Text 41"/>
          <p:cNvSpPr/>
          <p:nvPr/>
        </p:nvSpPr>
        <p:spPr>
          <a:xfrm>
            <a:off x="740664" y="331307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{{ww_internal_utilization_summary}}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{{ww_internal_utilization_detail}}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631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</a:p>
        </p:txBody>
      </p:sp>
      <p:sp>
        <p:nvSpPr>
          <p:cNvPr id="46" name="Text 44"/>
          <p:cNvSpPr/>
          <p:nvPr/>
        </p:nvSpPr>
        <p:spPr>
          <a:xfrm>
            <a:off x="749808" y="443919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{{ww_external_utilization_summary}}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{{ww_external_utilization_detail}}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3937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225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{{ww_capacity_summary}}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{{ww_capacity_detail}}</a:t>
            </a:r>
          </a:p>
        </p:txBody>
      </p:sp>
      <p:sp>
        <p:nvSpPr>
          <p:cNvPr id="50" name="Shape 48"/>
          <p:cNvSpPr/>
          <p:nvPr/>
        </p:nvSpPr>
        <p:spPr>
          <a:xfrm>
            <a:off x="481584" y="7306516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1584" y="6915209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1584" y="7125521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{{ww_source_note}}  •  Actuals: {{ww_actual_source_label}}  •  Forecast: {{ww_forecast_source_label}}  •  {{ww_period_label}}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1584" y="744556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{{ww_warnings}}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5272" y="786618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{{ww_entity_label}}  •  Slide 1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{{report_month}}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8264" y="183806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5424" y="2020941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{{in_budget_revenue_summary}}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{{in_budget_revenue_detail}}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{{in_internal_utilization_summary}}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{{in_internal_utilization_detail}}</a:t>
            </a:r>
          </a:p>
        </p:txBody>
      </p:sp>
      <p:sp>
        <p:nvSpPr>
          <p:cNvPr id="45" name="Text 43"/>
          <p:cNvSpPr/>
          <p:nvPr/>
        </p:nvSpPr>
        <p:spPr>
          <a:xfrm>
            <a:off x="600456" y="415102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7616" y="433390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{{in_external_utilization_summary}}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{{in_external_utilization_detail}}</a:t>
            </a:r>
          </a:p>
        </p:txBody>
      </p:sp>
      <p:sp>
        <p:nvSpPr>
          <p:cNvPr id="48" name="Text 46"/>
          <p:cNvSpPr/>
          <p:nvPr/>
        </p:nvSpPr>
        <p:spPr>
          <a:xfrm>
            <a:off x="640080" y="547737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77240" y="566025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{{in_capacity_summary}}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{{in_capacity_detail}}</a:t>
            </a:r>
          </a:p>
        </p:txBody>
      </p:sp>
      <p:sp>
        <p:nvSpPr>
          <p:cNvPr id="50" name="Shape 48"/>
          <p:cNvSpPr/>
          <p:nvPr/>
        </p:nvSpPr>
        <p:spPr>
          <a:xfrm>
            <a:off x="493776" y="6780393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93776" y="6890121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93776" y="7100433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{{in_source_note}}  •  Actuals: {{in_actual_source_label}}  •  Forecast: {{in_forecast_source_label}}  •  {{in_period_label}}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93776" y="7420473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{{in_warnings}}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27464" y="7841097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{{in_entity_label}}  •  Slide 2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{{report_month}}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0456" y="179008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7616" y="197296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{{vn_budget_revenue_summary}}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{{vn_budget_revenue_detail}}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{{vn_internal_utilization_summary}}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{{vn_internal_utilization_detail}}</a:t>
            </a:r>
          </a:p>
        </p:txBody>
      </p:sp>
      <p:sp>
        <p:nvSpPr>
          <p:cNvPr id="45" name="Text 43"/>
          <p:cNvSpPr/>
          <p:nvPr/>
        </p:nvSpPr>
        <p:spPr>
          <a:xfrm>
            <a:off x="640080" y="423850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7240" y="442138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{{vn_external_utilization_summary}}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{{vn_external_utilization_detail}}</a:t>
            </a:r>
          </a:p>
        </p:txBody>
      </p:sp>
      <p:sp>
        <p:nvSpPr>
          <p:cNvPr id="48" name="Text 46"/>
          <p:cNvSpPr/>
          <p:nvPr/>
        </p:nvSpPr>
        <p:spPr>
          <a:xfrm>
            <a:off x="600456" y="55229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7616" y="57058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{{vn_capacity_summary}}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{{vn_capacity_detail}}</a:t>
            </a:r>
          </a:p>
        </p:txBody>
      </p:sp>
      <p:sp>
        <p:nvSpPr>
          <p:cNvPr id="50" name="Shape 48"/>
          <p:cNvSpPr/>
          <p:nvPr/>
        </p:nvSpPr>
        <p:spPr>
          <a:xfrm>
            <a:off x="438912" y="6885312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38912" y="6995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6344" y="7238089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{{vn_source_note}}  •  Actuals: {{vn_actual_source_label}}  •  Forecast: {{vn_forecast_source_label}}  •  {{vn_period_label}}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38912" y="742461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{{vn_warnings}}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372600" y="784523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{{vn_entity_label}}  •  Slide 3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{{report_month}}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US" sz="4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/ info to GLs — NE-MX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5216" y="204925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2376" y="2232132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{{mx_budget_revenue_summary}}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{{mx_budget_revenue_detail}}</a:t>
            </a:r>
          </a:p>
        </p:txBody>
      </p:sp>
      <p:sp>
        <p:nvSpPr>
          <p:cNvPr id="42" name="Text 40"/>
          <p:cNvSpPr/>
          <p:nvPr/>
        </p:nvSpPr>
        <p:spPr>
          <a:xfrm>
            <a:off x="631767" y="342699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8927" y="360987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{{mx_internal_utilization_summary}}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{{mx_internal_utilization_detail}}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4941994"/>
            <a:ext cx="3657600" cy="252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124875"/>
            <a:ext cx="10716768" cy="123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{{mx_capacity_summary}}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{{mx_capacity_detail}}</a:t>
            </a:r>
          </a:p>
        </p:txBody>
      </p:sp>
      <p:sp>
        <p:nvSpPr>
          <p:cNvPr id="50" name="Shape 48"/>
          <p:cNvSpPr/>
          <p:nvPr/>
        </p:nvSpPr>
        <p:spPr>
          <a:xfrm>
            <a:off x="521208" y="6793675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21208" y="6903403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&amp; governance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21208" y="7113715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{{mx_source_note}}  •  Actuals: {{mx_actual_source_label}}  •  Forecast: {{mx_forecast_source_label}}  •  {{mx_period_label}}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1208" y="7433755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Warnings / data-quality notes: {{mx_warnings}}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93898" y="7884473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{{mx_entity_label}}  •  Slide 4 of 4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| Governed Enterprise Data | KPI Metrics Board</a:t>
            </a:r>
            <a:endParaRPr lang="en-US"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BOSCH</a:t>
            </a:r>
            <a:endParaRPr lang="en-US" sz="93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774</Words>
  <Application>Microsoft Office PowerPoint</Application>
  <PresentationFormat>Custom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Rahitha</cp:lastModifiedBy>
  <cp:revision>7</cp:revision>
  <dcterms:created xsi:type="dcterms:W3CDTF">2026-09-03T06:22:02Z</dcterms:created>
  <dcterms:modified xsi:type="dcterms:W3CDTF">2026-09-18T08:32:20Z</dcterms:modified>
</cp:coreProperties>
</file>