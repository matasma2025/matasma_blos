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Jun-26</c:v>
                </c:pt>
              </c:strCache>
            </c:strRef>
          </c:tx>
          <c:spPr>
            <a:solidFill>
              <a:srgbClr val="43979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700" u="none">
                    <a:solidFill>
                      <a:srgbClr val="FFFFFF"/>
                    </a:solidFill>
                    <a:latin typeface="Apto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Cash &amp; Cash equivalents</c:v>
                  </c:pt>
                  <c:pt idx="1">
                    <c:v>Trade Receivables</c:v>
                  </c:pt>
                  <c:pt idx="2">
                    <c:v>Other current assets</c:v>
                  </c:pt>
                  <c:pt idx="3">
                    <c:v>Investments in Group Entities</c:v>
                  </c:pt>
                  <c:pt idx="4">
                    <c:v>Right-of-use assets</c:v>
                  </c:pt>
                  <c:pt idx="5">
                    <c:v>Fixed Assets</c:v>
                  </c:pt>
                  <c:pt idx="6">
                    <c:v>Other Noncurrent assets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23629.73245043</c:v>
                </c:pt>
                <c:pt idx="1">
                  <c:v>15425.05148878</c:v>
                </c:pt>
                <c:pt idx="2">
                  <c:v>8228.444836949997</c:v>
                </c:pt>
                <c:pt idx="3">
                  <c:v>15142.791950120001</c:v>
                </c:pt>
                <c:pt idx="4">
                  <c:v>7945.1445209700005</c:v>
                </c:pt>
                <c:pt idx="5">
                  <c:v>10977.71731453</c:v>
                </c:pt>
                <c:pt idx="6">
                  <c:v>12815.602891169996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Mar-26</c:v>
                </c:pt>
              </c:strCache>
            </c:strRef>
          </c:tx>
          <c:spPr>
            <a:solidFill>
              <a:srgbClr val="BC40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700" u="none">
                    <a:solidFill>
                      <a:srgbClr val="FFFFFF"/>
                    </a:solidFill>
                    <a:latin typeface="Apto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Cash &amp; Cash equivalents</c:v>
                  </c:pt>
                  <c:pt idx="1">
                    <c:v>Trade Receivables</c:v>
                  </c:pt>
                  <c:pt idx="2">
                    <c:v>Other current assets</c:v>
                  </c:pt>
                  <c:pt idx="3">
                    <c:v>Investments in Group Entities</c:v>
                  </c:pt>
                  <c:pt idx="4">
                    <c:v>Right-of-use assets</c:v>
                  </c:pt>
                  <c:pt idx="5">
                    <c:v>Fixed Assets</c:v>
                  </c:pt>
                  <c:pt idx="6">
                    <c:v>Other Noncurrent assets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16077.804230040001</c:v>
                </c:pt>
                <c:pt idx="1">
                  <c:v>24658.807590580003</c:v>
                </c:pt>
                <c:pt idx="2">
                  <c:v>6678.532352009998</c:v>
                </c:pt>
                <c:pt idx="3">
                  <c:v>18830.801148119997</c:v>
                </c:pt>
                <c:pt idx="4">
                  <c:v>8430.256089229999</c:v>
                </c:pt>
                <c:pt idx="5">
                  <c:v>11192.24025317</c:v>
                </c:pt>
                <c:pt idx="6">
                  <c:v>13077.248726389993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700" u="none">
                  <a:solidFill>
                    <a:srgbClr val="FFFFFF"/>
                  </a:solidFill>
                  <a:latin typeface="Aptos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100000"/>
          <a:lstStyle/>
          <a:p>
            <a:pPr>
              <a:defRPr sz="8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1E2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6666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Jun-26</c:v>
                </c:pt>
              </c:strCache>
            </c:strRef>
          </c:tx>
          <c:spPr>
            <a:solidFill>
              <a:srgbClr val="43979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700" u="none">
                    <a:solidFill>
                      <a:srgbClr val="FFFFFF"/>
                    </a:solidFill>
                    <a:latin typeface="Apto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Equity &amp; reserves</c:v>
                  </c:pt>
                  <c:pt idx="1">
                    <c:v>Trade Payables</c:v>
                  </c:pt>
                  <c:pt idx="2">
                    <c:v>Lease liabilities</c:v>
                  </c:pt>
                  <c:pt idx="3">
                    <c:v>Provisions</c:v>
                  </c:pt>
                  <c:pt idx="4">
                    <c:v>Other Liabilities</c:v>
                  </c:pt>
                  <c:pt idx="5">
                    <c:v>Non-current liabilities &amp; provisions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52905.38741462</c:v>
                </c:pt>
                <c:pt idx="1">
                  <c:v>11411.06192181</c:v>
                </c:pt>
                <c:pt idx="2">
                  <c:v>9535.713154770001</c:v>
                </c:pt>
                <c:pt idx="3">
                  <c:v>4671.531768</c:v>
                </c:pt>
                <c:pt idx="4">
                  <c:v>9004.285163789995</c:v>
                </c:pt>
                <c:pt idx="5">
                  <c:v>6636.50603035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Mar-26</c:v>
                </c:pt>
              </c:strCache>
            </c:strRef>
          </c:tx>
          <c:spPr>
            <a:solidFill>
              <a:srgbClr val="BC40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700" u="none">
                    <a:solidFill>
                      <a:srgbClr val="FFFFFF"/>
                    </a:solidFill>
                    <a:latin typeface="Apto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Equity &amp; reserves</c:v>
                  </c:pt>
                  <c:pt idx="1">
                    <c:v>Trade Payables</c:v>
                  </c:pt>
                  <c:pt idx="2">
                    <c:v>Lease liabilities</c:v>
                  </c:pt>
                  <c:pt idx="3">
                    <c:v>Provisions</c:v>
                  </c:pt>
                  <c:pt idx="4">
                    <c:v>Other Liabilities</c:v>
                  </c:pt>
                  <c:pt idx="5">
                    <c:v>Non-current liabilities &amp; provisions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57995.17975198</c:v>
                </c:pt>
                <c:pt idx="1">
                  <c:v>9117.48825956</c:v>
                </c:pt>
                <c:pt idx="2">
                  <c:v>10070.85497389</c:v>
                </c:pt>
                <c:pt idx="3">
                  <c:v>4224.25481504</c:v>
                </c:pt>
                <c:pt idx="4">
                  <c:v>10650.983724719992</c:v>
                </c:pt>
                <c:pt idx="5">
                  <c:v>6886.92886435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700" u="none">
                  <a:solidFill>
                    <a:srgbClr val="FFFFFF"/>
                  </a:solidFill>
                  <a:latin typeface="Aptos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100000"/>
          <a:lstStyle/>
          <a:p>
            <a:pPr>
              <a:defRPr sz="8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1E2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6666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265176"/>
            <a:ext cx="10451592" cy="39319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Balance Sheet – Assets as of Jun-26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29768" y="996696"/>
          <a:ext cx="4892040" cy="27249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952744" y="832104"/>
            <a:ext cx="5870448" cy="518464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Cash &amp; Cash equivalents: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23,630 mINR at Jun-26 vs 16,078 mINR at Mar-26: +7,552 (+47.0%).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 account movement: Bank balances ≤ 90 days changed by +10,460 mINR (+670.2%).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 Receivables: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15,425 mINR at Jun-26 vs 24,659 mINR at Mar-26: -9,234 (-37.4%).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 account movement: Trade receivables - K changed by -8,737 mINR (-40.8%).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current assets: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8,228 mINR at Jun-26 vs 6,679 mINR at Mar-26: +1,550 (+23.2%).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 account movement: Receivables from pensionfunds, overaccrued changed by +1,313 mINR (+63.2%).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Investments in Group Entities: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15,143 mINR at Jun-26 vs 18,831 mINR at Mar-26: -3,688 (-19.6%).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Assets: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10,978 mINR at Jun-26 vs 11,192 mINR at Mar-26: -215 (-1.9%).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Noncurrent assets: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12,816 mINR at Jun-26 vs 13,077 mINR at Mar-26: -262 (-2.0%).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 account movement: Income tax receivables &gt; 1 y changed by -1,607 mINR (-95.2%).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Right-of-use assets: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7,945 mINR at Jun-26 vs 8,430 mINR at Mar-26: -485 (-5.8%).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256032" y="3959352"/>
            <a:ext cx="2743200" cy="16459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in mINR.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256032" y="4261104"/>
            <a:ext cx="5458968" cy="182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pointers on old balances: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256032" y="4443984"/>
            <a:ext cx="5458968" cy="181051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Trade Receivables remains 15,425 mINR at Jun-26 (16.4% of total assets); validate the underlying account mix and any reclassification behind the -9,234 mINR movement.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Cash &amp; Cash equivalents remains 23,630 mINR at Jun-26 (25.1% of total assets); validate the underlying account mix and any reclassification behind the +7,552 mINR movement.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29768" y="6565392"/>
            <a:ext cx="11292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Dedicated Balance Sheet cube · comparison uses the latest earlier loaded period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265176"/>
            <a:ext cx="10451592" cy="39319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Balance Sheet – Liabilities as of Jun-26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29768" y="996696"/>
          <a:ext cx="4892040" cy="27249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952744" y="832104"/>
            <a:ext cx="5870448" cy="518464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 Payables: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11,411 mINR at Jun-26 vs 9,117 mINR at Mar-26: +2,294 (+25.2%).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 account movement: Trade payables  - 3rd, B-c, B-f changed by +1,459 mINR (+28.9%).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Liabilities: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9,004 mINR at Jun-26 vs 10,651 mINR at Mar-26: -1,647 (-15.5%).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 account movement: Derivatives w/o hedge ≤ 1 y - 3rd changed by -962 mINR (-67.5%).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Equity &amp; reserves: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52,905 mINR at Jun-26 vs 57,995 mINR at Mar-26: -5,090 (-8.8%).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Lease liabilities: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9,536 mINR at Jun-26 vs 10,071 mINR at Mar-26: -535 (-5.3%).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 account movement: Lease liabilities (lessee) ≤ 1 y changed by -911 mINR (-34.2%).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Provisions: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4,672 mINR at Jun-26 vs 4,224 mINR at Mar-26: +447 (+10.6%).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 account movement: Financial liabil. to board members, employees ≤ 1 y changed by -1,370 mINR (-88.1%).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Non-current liabilities &amp; provisions: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6,637 mINR at Jun-26 vs 6,887 mINR at Mar-26: -250 (-3.6%).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 account movement: Provisions for pensions, similar oblig. changed by -1,660 mINR (-100.0%).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256032" y="3959352"/>
            <a:ext cx="2743200" cy="16459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in mINR.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256032" y="4261104"/>
            <a:ext cx="5458968" cy="182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pointers on old balances: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256032" y="4443984"/>
            <a:ext cx="5458968" cy="181051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Leverage direction of travel worsened vs baseline: debt-to-equity increased from 0.71 (Mar-26) to 0.78 (Jun-26) and equity ratio fell from 58.6% to 56.2%—still strong, but a watch item if the trend continues.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Equity &amp; reserves remains 52,905 mINR at Jun-26 (56.2% of total assets); validate the underlying account mix and any reclassification behind the -5,090 mINR movement.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29768" y="6565392"/>
            <a:ext cx="11292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Dedicated Balance Sheet cube · comparison uses the latest earlier loaded period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LedgerLM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Balance Sheet</dc:title>
  <dc:subject>Balance Sheet standalone analysis</dc:subject>
  <dc:creator>LedgerLM</dc:creator>
  <cp:lastModifiedBy>LedgerLM</cp:lastModifiedBy>
  <cp:revision>1</cp:revision>
  <dcterms:created xsi:type="dcterms:W3CDTF">2026-09-28T20:02:43Z</dcterms:created>
  <dcterms:modified xsi:type="dcterms:W3CDTF">2026-09-28T20:02:43Z</dcterms:modified>
</cp:coreProperties>
</file>