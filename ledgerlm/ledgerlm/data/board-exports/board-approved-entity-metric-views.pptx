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8412163"/>
  <p:notesSz cx="8412163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125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3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2496312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19" name="Shape 17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World Wide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" y="195681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</a:p>
        </p:txBody>
      </p:sp>
      <p:sp>
        <p:nvSpPr>
          <p:cNvPr id="40" name="Text 38"/>
          <p:cNvSpPr/>
          <p:nvPr/>
        </p:nvSpPr>
        <p:spPr>
          <a:xfrm>
            <a:off x="749808" y="213969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915.9 mUSD is higher by 23.6 mUSD compared with Forecast 892.3 mUSD.
MS: YTD 07.26 Actual 612.3 mUSD is higher by 6.8 mUSD compared with Forecast 605.4 mUSD.
MM: YTD 07.26 Actual 56.1 mUSD is higher by 1.8 mUSD compared with Forecast 54.4 mUSD.
SDS: YTD 07.26 Actual 58.9 mUSD is higher by 4.2 mUSD compared with Forecast 54.7 mUSD.
MS-External: YTD 07.26 Actual 19.1 mUSD is lower by 0.8 mUSD compared with Forecast 19.9 mUSD.
Integrated Service: YTD 07.26 Actual 166.7 mUSD is higher by 12.1 mUSD compared with Forecast 154.5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03504" y="313019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</a:p>
        </p:txBody>
      </p:sp>
      <p:sp>
        <p:nvSpPr>
          <p:cNvPr id="43" name="Text 41"/>
          <p:cNvSpPr/>
          <p:nvPr/>
        </p:nvSpPr>
        <p:spPr>
          <a:xfrm>
            <a:off x="740664" y="331307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94.7%; governed Forecast is unavailable.
MS: YTD 07.26 Actual is 94.7%; governed Forecast is unavailable.
MM: YTD 07.26 Actual is 94.2%;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12648" y="425631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</a:p>
        </p:txBody>
      </p:sp>
      <p:sp>
        <p:nvSpPr>
          <p:cNvPr id="46" name="Text 44"/>
          <p:cNvSpPr/>
          <p:nvPr/>
        </p:nvSpPr>
        <p:spPr>
          <a:xfrm>
            <a:off x="749808" y="4439190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100.8%; governed Forecast is unavailable.
MS: YTD 07.26 Actual is 100.6%; governed Forecast is unavailable.
MM: YTD 07.26 Actual is 102.3%;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553937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72225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31,530.6 HC is higher by 89.9 HC compared with Forecast 31,440.8 HC.
MS: YTD 07.26 Actual 20,090.2 HC is lower by 110.6 HC compared with Forecast 20,200.9 HC.
MM: YTD 07.26 Actual 1,913.5 HC is higher by 70.4 HC compared with Forecast 1,843.1 HC.
SDS: YTD 07.26 Actual 2,102.5 HC is higher by 31.5 HC compared with Forecast 2,071 HC.
Integrated Service: YTD 07.26 Actual 7,093.5 HC is higher by 63.4 HC compared with Forecast 7,030.1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81584" y="7306516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81584" y="6915209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81584" y="7125521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81584" y="744556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15272" y="786618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latin typeface="Arial" pitchFamily="34" charset="0"/>
                <a:ea typeface="Arial" pitchFamily="34" charset="-122"/>
                <a:cs typeface="Arial" pitchFamily="34" charset="-120"/>
              </a:rPr>
              <a:t>World Wide  •  Slide 1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Text 22"/>
          <p:cNvSpPr/>
          <p:nvPr/>
        </p:nvSpPr>
        <p:spPr>
          <a:xfrm>
            <a:off x="4626864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5" name="Shape 23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BGSW India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8264" y="183806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5424" y="2020941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742.5 mUSD is higher by 20.6 mUSD compared with Forecast 721.9 mUSD.
MS: YTD 07.26 Actual 507 mUSD is higher by 7.7 mUSD compared with Forecast 499.3 mUSD.
MM: YTD 07.26 Actual 42.3 mUSD is higher by 1.5 mUSD compared with Forecast 40.9 mUSD.
SDS: YTD 07.26 Actual 37.7 mUSD is higher by 1.3 mUSD compared with Forecast 36.5 mUSD.
MS-External: YTD 07.26 Actual 14.4 mUSD is lower by 0.4 mUSD compared with Forecast 14.8 mUSD.
Integrated Service: YTD 07.26 Actual 138.2 mUSD is higher by 11.3 mUSD compared with Forecast 126.9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94.6%; governed Forecast is unavailable.
MS: YTD 07.26 Actual is 94.6%; governed Forecast is unavailable.
MM: YTD 07.26 Actual is 93.8%;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00456" y="415102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37616" y="433390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100.2%; governed Forecast is unavailable.
MS: YTD 07.26 Actual is 100.1%; governed Forecast is unavailable.
MM: YTD 07.26 Actual is 101.4%;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40080" y="547737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77240" y="5660254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26,643.6 HC is higher by 198.3 HC compared with Forecast 26,445.3 HC.
MS: YTD 07.26 Actual 16,948.9 HC is lower by 142.7 HC compared with Forecast 17,091.6 HC.
MM: YTD 07.26 Actual 1,503.3 HC is higher by 95.5 HC compared with Forecast 1,407.8 HC.
SDS: YTD 07.26 Actual 1,947.8 HC is higher by 97.1 HC compared with Forecast 1,850.7 HC.
Integrated Service: YTD 07.26 Actual 5,912.7 HC is higher by 111.2 HC compared with Forecast 5,801.5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93776" y="6780393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93776" y="6890121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93776" y="7100433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93776" y="7420473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427464" y="7841097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BGSW  •  Slide 2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6757416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490" dirty="0"/>
          </a:p>
        </p:txBody>
      </p:sp>
      <p:sp>
        <p:nvSpPr>
          <p:cNvPr id="29" name="Shape 27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/ info to GLs — BGSV Vietnam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00456" y="179008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37616" y="1972966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112.4 mUSD is higher by 0.6 mUSD compared with Forecast 111.9 mUSD.
MS: YTD 07.26 Actual 74.8 mUSD is lower by 0.1 mUSD compared with Forecast 74.9 mUSD.
MM: YTD 07.26 Actual 6.7 mUSD is lower by 0.1 mUSD compared with Forecast 6.9 mUSD.
SDS: YTD 07.26 Actual 2.3 mUSD is lower by 0.2 mUSD compared with Forecast 2.5 mUSD.
Integrated Service: YTD 07.26 Actual 28.6 mUSD is higher by 1 mUSD compared with Forecast 27.6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12648" y="30083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49808" y="31912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95.8%; governed Forecast is unavailable.
MS: YTD 07.26 Actual is 95.7%; governed Forecast is unavailable.
MM: YTD 07.26 Actual is 96.9%; governed Forecast is unavailable.</a:t>
            </a:r>
          </a:p>
        </p:txBody>
      </p:sp>
      <p:sp>
        <p:nvSpPr>
          <p:cNvPr id="45" name="Text 43"/>
          <p:cNvSpPr/>
          <p:nvPr/>
        </p:nvSpPr>
        <p:spPr>
          <a:xfrm>
            <a:off x="640080" y="4238501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4421381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103.7%; governed Forecast is unavailable.
MS: YTD 07.26 Actual is 103.8%; governed Forecast is unavailable.
MM: YTD 07.26 Actual is 103.2%;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00456" y="552297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37616" y="5705856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4,033.9 HC is lower by 92.5 HC compared with Forecast 4,126.4 HC.
MS: YTD 07.26 Actual 2,504.2 HC is lower by 32.1 HC compared with Forecast 2,536.3 HC.
MM: YTD 07.26 Actual 243.8 HC is lower by 29.5 HC compared with Forecast 273.3 HC.
SDS: YTD 07.26 Actual 110.9 HC is higher by 22.7 HC compared with Forecast 88.3 HC.
Integrated Service: YTD 07.26 Actual 1,175 HC is lower by 53.6 HC compared with Forecast 1,228.6 HC.</a:t>
            </a:r>
          </a:p>
        </p:txBody>
      </p:sp>
      <p:sp>
        <p:nvSpPr>
          <p:cNvPr id="50" name="Shape 48"/>
          <p:cNvSpPr/>
          <p:nvPr/>
        </p:nvSpPr>
        <p:spPr>
          <a:xfrm>
            <a:off x="438912" y="6885312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/>
          </a:p>
        </p:txBody>
      </p:sp>
      <p:sp>
        <p:nvSpPr>
          <p:cNvPr id="51" name="Text 49"/>
          <p:cNvSpPr/>
          <p:nvPr/>
        </p:nvSpPr>
        <p:spPr>
          <a:xfrm>
            <a:off x="438912" y="699504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Source &amp; governance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466344" y="7238089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green scope  •  Actuals: Anaplan actuals · unversioned actual export rows  •  Forecast: MBR workbook · YTD Forecast  •  YTD 07.26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438912" y="7424611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Warnings / data-quality notes: Mexico: External Utilization has no actual source rows.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9372600" y="7845235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BGSV  •  Slide 3 of 4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| Governed Enterprise Data | KPI Metrics Board</a:t>
            </a:r>
            <a:endParaRPr lang="en-US" sz="550" dirty="0"/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9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82296"/>
            <a:ext cx="2011680" cy="50292"/>
          </a:xfrm>
          <a:prstGeom prst="rect">
            <a:avLst/>
          </a:prstGeom>
          <a:solidFill>
            <a:srgbClr val="A83678"/>
          </a:solidFill>
          <a:ln w="12700">
            <a:solidFill>
              <a:srgbClr val="A836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0" y="82296"/>
            <a:ext cx="2468880" cy="50292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480560" y="82296"/>
            <a:ext cx="2834640" cy="50292"/>
          </a:xfrm>
          <a:prstGeom prst="rect">
            <a:avLst/>
          </a:prstGeom>
          <a:solidFill>
            <a:srgbClr val="009B76"/>
          </a:solidFill>
          <a:ln w="12700">
            <a:solidFill>
              <a:srgbClr val="009B7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15200" y="82296"/>
            <a:ext cx="2103120" cy="5029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418320" y="82296"/>
            <a:ext cx="2773375" cy="50292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-1051560" y="146304"/>
            <a:ext cx="6309360" cy="269748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766560" y="182880"/>
            <a:ext cx="6309360" cy="2971800"/>
          </a:xfrm>
          <a:prstGeom prst="arc">
            <a:avLst/>
          </a:prstGeom>
          <a:solidFill>
            <a:srgbClr val="F6EFF3">
              <a:alpha val="72000"/>
            </a:srgbClr>
          </a:solidFill>
          <a:ln w="12700">
            <a:solidFill>
              <a:srgbClr val="F6EF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32304" y="3017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 YTD 07.26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10853928" y="274320"/>
            <a:ext cx="987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750" dirty="0"/>
          </a:p>
          <a:p>
            <a:pPr marL="0" indent="0" algn="l">
              <a:buNone/>
            </a:pPr>
            <a:r>
              <a:rPr lang="en-US" sz="750" b="1" dirty="0">
                <a:solidFill>
                  <a:srgbClr val="A836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853928" y="786384"/>
            <a:ext cx="987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60" b="1" dirty="0">
                <a:solidFill>
                  <a:srgbClr val="626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future-ready.</a:t>
            </a:r>
            <a:endParaRPr lang="en-US" sz="460" dirty="0"/>
          </a:p>
        </p:txBody>
      </p:sp>
      <p:sp>
        <p:nvSpPr>
          <p:cNvPr id="13" name="Shape 11"/>
          <p:cNvSpPr/>
          <p:nvPr/>
        </p:nvSpPr>
        <p:spPr>
          <a:xfrm>
            <a:off x="1874520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993392" y="1014984"/>
            <a:ext cx="420624" cy="274320"/>
          </a:xfrm>
          <a:prstGeom prst="ellipse">
            <a:avLst/>
          </a:prstGeom>
          <a:solidFill>
            <a:srgbClr val="00657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203704" y="1033272"/>
            <a:ext cx="0" cy="23774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48256" y="1152144"/>
            <a:ext cx="31089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496312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(WW)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4005072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123944" y="1014984"/>
            <a:ext cx="420624" cy="91440"/>
          </a:xfrm>
          <a:prstGeom prst="rect">
            <a:avLst/>
          </a:prstGeom>
          <a:solidFill>
            <a:srgbClr val="FF9933"/>
          </a:solidFill>
          <a:ln w="12700">
            <a:solidFill>
              <a:srgbClr val="FF99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123944" y="1106424"/>
            <a:ext cx="420624" cy="9144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123944" y="1197864"/>
            <a:ext cx="420624" cy="91440"/>
          </a:xfrm>
          <a:prstGeom prst="rect">
            <a:avLst/>
          </a:prstGeom>
          <a:solidFill>
            <a:srgbClr val="138808"/>
          </a:solidFill>
          <a:ln w="12700">
            <a:solidFill>
              <a:srgbClr val="13880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304812" y="1121969"/>
            <a:ext cx="58887" cy="60350"/>
          </a:xfrm>
          <a:prstGeom prst="ellipse">
            <a:avLst/>
          </a:prstGeom>
          <a:solidFill>
            <a:srgbClr val="F8F8F8">
              <a:alpha val="0"/>
            </a:srgbClr>
          </a:solidFill>
          <a:ln w="12700">
            <a:solidFill>
              <a:srgbClr val="0000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26864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(IN)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6135624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12700">
            <a:solidFill>
              <a:srgbClr val="B8B8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4496" y="1014984"/>
            <a:ext cx="420624" cy="27432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64224" y="105613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D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57416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dirty="0">
                <a:solidFill>
                  <a:srgbClr val="3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 (VN)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66176" y="905256"/>
            <a:ext cx="1920240" cy="493776"/>
          </a:xfrm>
          <a:prstGeom prst="roundRect">
            <a:avLst>
              <a:gd name="adj" fmla="val 9259"/>
            </a:avLst>
          </a:prstGeom>
          <a:solidFill>
            <a:srgbClr val="F2D9E5"/>
          </a:solidFill>
          <a:ln w="12700">
            <a:solidFill>
              <a:srgbClr val="A836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85048" y="1014984"/>
            <a:ext cx="140208" cy="274320"/>
          </a:xfrm>
          <a:prstGeom prst="rect">
            <a:avLst/>
          </a:prstGeom>
          <a:solidFill>
            <a:srgbClr val="006847"/>
          </a:solidFill>
          <a:ln w="12700">
            <a:solidFill>
              <a:srgbClr val="0068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525256" y="1014984"/>
            <a:ext cx="140208" cy="2743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665464" y="1014984"/>
            <a:ext cx="140208" cy="274320"/>
          </a:xfrm>
          <a:prstGeom prst="rect">
            <a:avLst/>
          </a:prstGeom>
          <a:solidFill>
            <a:srgbClr val="CE1126"/>
          </a:solidFill>
          <a:ln w="12700">
            <a:solidFill>
              <a:srgbClr val="CE11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565916" y="1119226"/>
            <a:ext cx="58887" cy="65837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8887968" y="1024128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8C24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(MX)</a:t>
            </a:r>
            <a:endParaRPr lang="en-US" sz="730" dirty="0"/>
          </a:p>
        </p:txBody>
      </p:sp>
      <p:sp>
        <p:nvSpPr>
          <p:cNvPr id="34" name="Text 32"/>
          <p:cNvSpPr/>
          <p:nvPr/>
        </p:nvSpPr>
        <p:spPr>
          <a:xfrm>
            <a:off x="8887968" y="119786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9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</a:t>
            </a:r>
            <a:endParaRPr lang="en-US" sz="4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29184" y="1536192"/>
            <a:ext cx="11539728" cy="6245352"/>
          </a:xfrm>
          <a:prstGeom prst="rect">
            <a:avLst/>
          </a:prstGeom>
          <a:solidFill>
            <a:srgbClr val="D9D9D9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IN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38912" y="1618488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A8367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/ info to GLs — NE-MX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85216" y="204925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 / Revenue: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22376" y="2232132"/>
            <a:ext cx="10716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29.9 mUSD is higher by 1.1 mUSD compared with Forecast 28.8 mUSD.
MS: YTD 07.26 Actual 21.7 mUSD is lower by 0.2 mUSD compared with Forecast 21.9 mUSD.
MM: YTD 07.26 Actual 7.5 mUSD is higher by 1.5 mUSD compared with Forecast 5.9 mUSD.
SDS: YTD 07.26 Actual 0.7 mUSD is lower by 0.3 mUSD compared with Forecast 1 mUSD.</a:t>
            </a:r>
          </a:p>
        </p:txBody>
      </p:sp>
      <p:sp>
        <p:nvSpPr>
          <p:cNvPr id="42" name="Text 40"/>
          <p:cNvSpPr/>
          <p:nvPr/>
        </p:nvSpPr>
        <p:spPr>
          <a:xfrm>
            <a:off x="631767" y="3426999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Utilization:</a:t>
            </a:r>
            <a:endParaRPr lang="en-US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68927" y="3609879"/>
            <a:ext cx="1071676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is 92.2%; governed Forecast is unavailable.
MS: YTD 07.26 Actual is 91.8%; governed Forecast is unavailable.
MM: YTD 07.26 Actual is 94%; governed Forecast is unavailable.</a:t>
            </a:r>
          </a:p>
        </p:txBody>
      </p:sp>
      <p:sp>
        <p:nvSpPr>
          <p:cNvPr id="48" name="Text 46"/>
          <p:cNvSpPr/>
          <p:nvPr/>
        </p:nvSpPr>
        <p:spPr>
          <a:xfrm>
            <a:off x="612648" y="4941994"/>
            <a:ext cx="3657600" cy="252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 (Internal + External):</a:t>
            </a:r>
          </a:p>
        </p:txBody>
      </p:sp>
      <p:sp>
        <p:nvSpPr>
          <p:cNvPr id="49" name="Text 47"/>
          <p:cNvSpPr/>
          <p:nvPr/>
        </p:nvSpPr>
        <p:spPr>
          <a:xfrm>
            <a:off x="749808" y="5124875"/>
            <a:ext cx="10716768" cy="123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</a:p>
          <a:p>
            <a:pPr marL="0" indent="0">
              <a:buNone/>
            </a:pPr>
            <a:r>
              <a:rPr lang="en-US" sz="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YTD 07.26 Actual 634.8 HC is higher by 7.8 HC compared with Forecast 627 HC.
MS: YTD 07.26 Actual 456.5 HC is lower by 7.5 HC compared with Forecast 464 HC.
MM: YTD 07.26 Actual 156.5 HC is higher by 20.5 HC compared with Forecast 136 HC.
SDS: YTD 07.26 Actual 21.8 HC is lower by 5.2 HC compared with Forecast 27 HC.</a:t>
            </a:r>
          </a:p>
        </p:txBody>
      </p:sp>
      <p:sp>
        <p:nvSpPr>
          <p:cNvPr id="50" name="Shape 48"/>
          <p:cNvSpPr/>
          <p:nvPr/>
        </p:nvSpPr>
        <p:spPr>
          <a:xfrm>
            <a:off x="521208" y="6793675"/>
            <a:ext cx="11283696" cy="0"/>
          </a:xfrm>
          <a:prstGeom prst="line">
            <a:avLst/>
          </a:prstGeom>
          <a:noFill/>
          <a:ln w="12700">
            <a:solidFill>
              <a:srgbClr val="AFAFAF"/>
            </a:solidFill>
            <a:prstDash val="solid"/>
          </a:ln>
        </p:spPr>
        <p:txBody>
          <a:bodyPr/>
          <a:lstStyle/>
          <a:p>
            <a:endParaRPr lang="en-IN" sz="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21208" y="6903403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 &amp; governance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21208" y="7113715"/>
            <a:ext cx="11228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Governed green scope  •  Actuals: Anaplan actuals · unversioned actual export rows  •  Forecast: MBR workbook · YTD Forecast  •  YTD 07.26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21208" y="7433755"/>
            <a:ext cx="1122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600" i="1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Warnings / data-quality notes: Mexico: External Utilization has no actual source rows.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493898" y="7884473"/>
            <a:ext cx="2286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00" dirty="0">
                <a:solidFill>
                  <a:srgbClr val="62626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NE-MX  •  Slide 4 of 4</a:t>
            </a:r>
            <a:endParaRPr lang="en-US" sz="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0" y="8001000"/>
            <a:ext cx="4572000" cy="411480"/>
          </a:xfrm>
          <a:prstGeom prst="rect">
            <a:avLst/>
          </a:prstGeom>
          <a:solidFill>
            <a:srgbClr val="006578"/>
          </a:solidFill>
          <a:ln w="12700">
            <a:solidFill>
              <a:srgbClr val="0065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572000" y="8001000"/>
            <a:ext cx="2194560" cy="411480"/>
          </a:xfrm>
          <a:prstGeom prst="rect">
            <a:avLst/>
          </a:prstGeom>
          <a:solidFill>
            <a:srgbClr val="D9192B"/>
          </a:solidFill>
          <a:ln w="12700">
            <a:solidFill>
              <a:srgbClr val="D919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766560" y="8001000"/>
            <a:ext cx="2377440" cy="4114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9144000" y="8001000"/>
            <a:ext cx="3047695" cy="411480"/>
          </a:xfrm>
          <a:prstGeom prst="rect">
            <a:avLst/>
          </a:prstGeom>
          <a:solidFill>
            <a:srgbClr val="F08A21"/>
          </a:solidFill>
          <a:ln w="12700">
            <a:solidFill>
              <a:srgbClr val="F08A2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" y="8129016"/>
            <a:ext cx="5212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 | Governed Enterprise Data | KPI Metrics Board</a:t>
            </a:r>
            <a:endParaRPr lang="en-US" sz="5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0735056" y="8083296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BOSCH</a:t>
            </a:r>
            <a:endParaRPr lang="en-US" sz="93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774</Words>
  <Application>Microsoft Office PowerPoint</Application>
  <PresentationFormat>Custom</PresentationFormat>
  <Paragraphs>125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Metrics KPI Report — Four Entity Template</dc:title>
  <dc:subject>Four-entity editable governed KPI Metrics PowerPoint template</dc:subject>
  <dc:creator>LedgerLM</dc:creator>
  <cp:lastModifiedBy>Rahitha</cp:lastModifiedBy>
  <cp:revision>7</cp:revision>
  <dcterms:created xsi:type="dcterms:W3CDTF">2026-09-03T06:22:02Z</dcterms:created>
  <dcterms:modified xsi:type="dcterms:W3CDTF">2026-09-18T08:32:20Z</dcterms:modified>
</cp:coreProperties>
</file>