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8412163"/>
  <p:notesSz cx="8412163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125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3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2496312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19" name="Shape 17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World Wide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2648" y="195681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</a:p>
        </p:txBody>
      </p:sp>
      <p:sp>
        <p:nvSpPr>
          <p:cNvPr id="40" name="Text 38"/>
          <p:cNvSpPr/>
          <p:nvPr/>
        </p:nvSpPr>
        <p:spPr>
          <a:xfrm>
            <a:off x="749808" y="213969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915.9 mUSD is higher by 23.6 mUSD compared with Forecast 892.3 mUSD.
MS: YTD 07.26 Actual 612.3 mUSD is higher by 6.8 mUSD compared with Forecast 605.4 mUSD.
MM: YTD 07.26 Actual 56.1 mUSD is higher by 1.8 mUSD compared with Forecast 54.4 mUSD.
SDS: YTD 07.26 Actual 58.9 mUSD is higher by 4.2 mUSD compared with Forecast 54.7 mUSD.
MS-External: YTD 07.26 Actual 19.1 mUSD is lower by 0.8 mUSD compared with Forecast 19.9 mUSD.
Integrated Service: YTD 07.26 Actual 166.7 mUSD is higher by 12.1 mUSD compared with Forecast 154.5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03504" y="313019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</a:p>
        </p:txBody>
      </p:sp>
      <p:sp>
        <p:nvSpPr>
          <p:cNvPr id="43" name="Text 41"/>
          <p:cNvSpPr/>
          <p:nvPr/>
        </p:nvSpPr>
        <p:spPr>
          <a:xfrm>
            <a:off x="740664" y="3313071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94.7%; governed Forecast is unavailable.
MS: YTD 07.26 Actual is 94.7%; governed Forecast is unavailable.
MM: YTD 07.26 Actual is 94.2%; governed Forecast is unavailable.
SDS: no governed Actual or Forecast value is available for YTD 07.26.
MS-External: no governed Actual or Forecast value is available for YTD 07.26.
Integrated Service: no governed Actual or Forecast value is available for YTD 07.26.</a:t>
            </a:r>
          </a:p>
        </p:txBody>
      </p:sp>
      <p:sp>
        <p:nvSpPr>
          <p:cNvPr id="45" name="Text 43"/>
          <p:cNvSpPr/>
          <p:nvPr/>
        </p:nvSpPr>
        <p:spPr>
          <a:xfrm>
            <a:off x="612648" y="425631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</a:p>
        </p:txBody>
      </p:sp>
      <p:sp>
        <p:nvSpPr>
          <p:cNvPr id="46" name="Text 44"/>
          <p:cNvSpPr/>
          <p:nvPr/>
        </p:nvSpPr>
        <p:spPr>
          <a:xfrm>
            <a:off x="749808" y="4439190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100.8%; governed Forecast is unavailable.
MS: YTD 07.26 Actual is 100.6%; governed Forecast is unavailable.
MM: YTD 07.26 Actual is 102.3%; governed Forecast is unavailable.
SDS: no governed Actual or Forecast value is available for YTD 07.26.
MS-External: no governed Actual or Forecast value is available for YTD 07.26.
Integrated Service: no governed Actual or Forecast value is available for YTD 07.26.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5539379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</a:p>
        </p:txBody>
      </p:sp>
      <p:sp>
        <p:nvSpPr>
          <p:cNvPr id="49" name="Text 47"/>
          <p:cNvSpPr/>
          <p:nvPr/>
        </p:nvSpPr>
        <p:spPr>
          <a:xfrm>
            <a:off x="749808" y="5722259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31,530.6 HC is higher by 89.9 HC compared with Forecast 31,440.8 HC.
MS: YTD 07.26 Actual 20,090.2 HC is lower by 110.6 HC compared with Forecast 20,200.9 HC.
MM: YTD 07.26 Actual 1,913.5 HC is higher by 70.4 HC compared with Forecast 1,843.1 HC.
SDS: YTD 07.26 Actual 2,102.5 HC is higher by 31.5 HC compared with Forecast 2,071 HC.
MS-External: YTD 07.26 Forecast is 221.7 HC; governed Actual is unavailable.
Integrated Service: YTD 07.26 Actual 7,093.5 HC is higher by 63.4 HC compared with Forecast 7,030.1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81584" y="7306516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81584" y="6915209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81584" y="7125521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81584" y="7445561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15272" y="7866185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latin typeface="Arial" pitchFamily="34" charset="0"/>
                <a:ea typeface="Arial" pitchFamily="34" charset="-122"/>
                <a:cs typeface="Arial" pitchFamily="34" charset="-120"/>
              </a:rPr>
              <a:t>World Wide  •  Slide 1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4626864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BGSW India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88264" y="183806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25424" y="2020941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742.5 mUSD is higher by 20.6 mUSD compared with Forecast 721.9 mUSD.
MS: YTD 07.26 Actual 507 mUSD is higher by 7.7 mUSD compared with Forecast 499.3 mUSD.
MM: YTD 07.26 Actual 42.3 mUSD is higher by 1.5 mUSD compared with Forecast 40.9 mUSD.
SDS: YTD 07.26 Actual 37.7 mUSD is higher by 1.3 mUSD compared with Forecast 36.5 mUSD.
MS-External: YTD 07.26 Actual 14.4 mUSD is lower by 0.4 mUSD compared with Forecast 14.8 mUSD.
Integrated Service: YTD 07.26 Actual 138.2 mUSD is higher by 11.3 mUSD compared with Forecast 126.9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0083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1912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94.6%; governed Forecast is unavailable.
MS: YTD 07.26 Actual is 94.6%; governed Forecast is unavailable.
MM: YTD 07.26 Actual is 93.8%; governed Forecast is unavailable.
SDS: no governed Actual or Forecast value is available for YTD 07.26.
MS-External: no governed Actual or Forecast value is available for YTD 07.26.
Integrated Service: no governed Actual or Forecast value is available for YTD 07.26.</a:t>
            </a:r>
          </a:p>
        </p:txBody>
      </p:sp>
      <p:sp>
        <p:nvSpPr>
          <p:cNvPr id="45" name="Text 43"/>
          <p:cNvSpPr/>
          <p:nvPr/>
        </p:nvSpPr>
        <p:spPr>
          <a:xfrm>
            <a:off x="600456" y="415102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37616" y="4333904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100.2%; governed Forecast is unavailable.
MS: YTD 07.26 Actual is 100.1%; governed Forecast is unavailable.
MM: YTD 07.26 Actual is 101.4%; governed Forecast is unavailable.
SDS: no governed Actual or Forecast value is available for YTD 07.26.
MS-External: no governed Actual or Forecast value is available for YTD 07.26.
Integrated Service: no governed Actual or Forecast value is available for YTD 07.26.</a:t>
            </a:r>
          </a:p>
        </p:txBody>
      </p:sp>
      <p:sp>
        <p:nvSpPr>
          <p:cNvPr id="48" name="Text 46"/>
          <p:cNvSpPr/>
          <p:nvPr/>
        </p:nvSpPr>
        <p:spPr>
          <a:xfrm>
            <a:off x="640080" y="547737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77240" y="5660254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26,643.6 HC is higher by 198.3 HC compared with Forecast 26,445.3 HC.
MS: YTD 07.26 Actual 16,948.9 HC is lower by 142.7 HC compared with Forecast 17,091.6 HC.
MM: YTD 07.26 Actual 1,503.3 HC is higher by 95.5 HC compared with Forecast 1,407.8 HC.
SDS: YTD 07.26 Actual 1,947.8 HC is higher by 97.1 HC compared with Forecast 1,850.7 HC.
MS-External: YTD 07.26 Forecast is 219.7 HC; governed Actual is unavailable.
Integrated Service: YTD 07.26 Actual 5,912.7 HC is higher by 111.2 HC compared with Forecast 5,801.5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93776" y="6780393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/>
          </a:p>
        </p:txBody>
      </p:sp>
      <p:sp>
        <p:nvSpPr>
          <p:cNvPr id="51" name="Text 49"/>
          <p:cNvSpPr/>
          <p:nvPr/>
        </p:nvSpPr>
        <p:spPr>
          <a:xfrm>
            <a:off x="493776" y="6890121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93776" y="7100433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93776" y="7420473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27464" y="7841097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BGSW  •  Slide 2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6757416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BGSV Vietnam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00456" y="179008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37616" y="197296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112.4 mUSD is higher by 0.6 mUSD compared with Forecast 111.9 mUSD.
MS: YTD 07.26 Actual 74.8 mUSD is lower by 0.1 mUSD compared with Forecast 74.9 mUSD.
MM: YTD 07.26 Actual 6.7 mUSD is lower by 0.1 mUSD compared with Forecast 6.9 mUSD.
SDS: YTD 07.26 Actual 2.3 mUSD is lower by 0.2 mUSD compared with Forecast 2.5 mUSD.
MS-External: YTD 07.26 Forecast is 0 mUSD; governed Actual is unavailable.
Integrated Service: YTD 07.26 Actual 28.6 mUSD is higher by 1 mUSD compared with Forecast 27.6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0083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1912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95.8%; governed Forecast is unavailable.
MS: YTD 07.26 Actual is 95.7%; governed Forecast is unavailable.
MM: YTD 07.26 Actual is 96.9%; governed Forecast is unavailable.
SDS: no governed Actual or Forecast value is available for YTD 07.26.
MS-External: no governed Actual or Forecast value is available for YTD 07.26.
Integrated Service: no governed Actual or Forecast value is available for YTD 07.26.</a:t>
            </a:r>
          </a:p>
        </p:txBody>
      </p:sp>
      <p:sp>
        <p:nvSpPr>
          <p:cNvPr id="45" name="Text 43"/>
          <p:cNvSpPr/>
          <p:nvPr/>
        </p:nvSpPr>
        <p:spPr>
          <a:xfrm>
            <a:off x="640080" y="423850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77240" y="4421381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103.7%; governed Forecast is unavailable.
MS: YTD 07.26 Actual is 103.8%; governed Forecast is unavailable.
MM: YTD 07.26 Actual is 103.2%; governed Forecast is unavailable.
SDS: no governed Actual or Forecast value is available for YTD 07.26.
MS-External: no governed Actual or Forecast value is available for YTD 07.26.
Integrated Service: no governed Actual or Forecast value is available for YTD 07.26.</a:t>
            </a:r>
          </a:p>
        </p:txBody>
      </p:sp>
      <p:sp>
        <p:nvSpPr>
          <p:cNvPr id="48" name="Text 46"/>
          <p:cNvSpPr/>
          <p:nvPr/>
        </p:nvSpPr>
        <p:spPr>
          <a:xfrm>
            <a:off x="600456" y="55229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37616" y="57058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4,033.9 HC is lower by 92.5 HC compared with Forecast 4,126.4 HC.
MS: YTD 07.26 Actual 2,504.2 HC is lower by 32.1 HC compared with Forecast 2,536.3 HC.
MM: YTD 07.26 Actual 243.8 HC is lower by 29.5 HC compared with Forecast 273.3 HC.
SDS: YTD 07.26 Actual 110.9 HC is higher by 22.7 HC compared with Forecast 88.3 HC.
MS-External: YTD 07.26 Forecast is 0 HC; governed Actual is unavailable.
Integrated Service: YTD 07.26 Actual 1,175 HC is lower by 53.6 HC compared with Forecast 1,228.6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38912" y="6885312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/>
          </a:p>
        </p:txBody>
      </p:sp>
      <p:sp>
        <p:nvSpPr>
          <p:cNvPr id="51" name="Text 49"/>
          <p:cNvSpPr/>
          <p:nvPr/>
        </p:nvSpPr>
        <p:spPr>
          <a:xfrm>
            <a:off x="438912" y="69950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66344" y="7238089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38912" y="7424611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372600" y="7845235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BGSV  •  Slide 3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8887968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</a:t>
            </a:r>
            <a:endParaRPr lang="en-US" sz="49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/ info to GLs — NE-MX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85216" y="2049252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22376" y="2232132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29.9 mUSD is higher by 1.1 mUSD compared with Forecast 28.8 mUSD.
MS: YTD 07.26 Actual 21.7 mUSD is lower by 0.2 mUSD compared with Forecast 21.9 mUSD.
MM: YTD 07.26 Actual 7.5 mUSD is higher by 1.5 mUSD compared with Forecast 5.9 mUSD.
SDS: YTD 07.26 Actual 0.7 mUSD is lower by 0.3 mUSD compared with Forecast 1 mUSD.
MS-External: YTD 07.26 Forecast is 0 mUSD; governed Actual is unavailable.
Integrated Service: YTD 07.26 Forecast is 0 mUSD; governed Actual is unavailable.</a:t>
            </a:r>
          </a:p>
        </p:txBody>
      </p:sp>
      <p:sp>
        <p:nvSpPr>
          <p:cNvPr id="42" name="Text 40"/>
          <p:cNvSpPr/>
          <p:nvPr/>
        </p:nvSpPr>
        <p:spPr>
          <a:xfrm>
            <a:off x="631767" y="3426999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68927" y="3609879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92.2%; governed Forecast is unavailable.
MS: YTD 07.26 Actual is 91.8%; governed Forecast is unavailable.
MM: YTD 07.26 Actual is 94%; governed Forecast is unavailable.
SDS: no governed Actual or Forecast value is available for YTD 07.26.
MS-External: no governed Actual or Forecast value is available for YTD 07.26.
Integrated Service: no governed Actual or Forecast value is available for YTD 07.26.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4941994"/>
            <a:ext cx="3657600" cy="252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</a:p>
        </p:txBody>
      </p:sp>
      <p:sp>
        <p:nvSpPr>
          <p:cNvPr id="49" name="Text 47"/>
          <p:cNvSpPr/>
          <p:nvPr/>
        </p:nvSpPr>
        <p:spPr>
          <a:xfrm>
            <a:off x="749808" y="5124875"/>
            <a:ext cx="10716768" cy="123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634.8 HC is higher by 7.8 HC compared with Forecast 627 HC.
MS: YTD 07.26 Actual 456.5 HC is lower by 7.5 HC compared with Forecast 464 HC.
MM: YTD 07.26 Actual 156.5 HC is higher by 20.5 HC compared with Forecast 136 HC.
SDS: YTD 07.26 Actual 21.8 HC is lower by 5.2 HC compared with Forecast 27 HC.
MS-External: YTD 07.26 Forecast is 0 HC; governed Actual is unavailable.
Integrated Service: YTD 07.26 Forecast is 0 HC; governed Actual is unavailable.</a:t>
            </a:r>
          </a:p>
        </p:txBody>
      </p:sp>
      <p:sp>
        <p:nvSpPr>
          <p:cNvPr id="50" name="Shape 48"/>
          <p:cNvSpPr/>
          <p:nvPr/>
        </p:nvSpPr>
        <p:spPr>
          <a:xfrm>
            <a:off x="521208" y="6793675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21208" y="6903403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&amp; governance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21208" y="7113715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Governed green scope  •  Actuals: Anaplan actuals · unversioned actual export rows  •  Forecast: MBR workbook · YTD Forecast  •  YTD 07.26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21208" y="7433755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Warnings / data-quality notes: Mexico: External Utilization has no actual source rows.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493898" y="7884473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NE-MX  •  Slide 4 of 4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| Governed Enterprise Data | KPI Metrics Board</a:t>
            </a:r>
            <a:endParaRPr lang="en-US" sz="5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BOSCH</a:t>
            </a:r>
            <a:endParaRPr lang="en-US" sz="93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774</Words>
  <Application>Microsoft Office PowerPoint</Application>
  <PresentationFormat>Custom</PresentationFormat>
  <Paragraphs>125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Metrics KPI Report — Four Entity Template</dc:title>
  <dc:subject>Four-entity editable governed KPI Metrics PowerPoint template</dc:subject>
  <dc:creator>LedgerLM</dc:creator>
  <cp:lastModifiedBy>Rahitha</cp:lastModifiedBy>
  <cp:revision>7</cp:revision>
  <dcterms:created xsi:type="dcterms:W3CDTF">2026-09-03T06:22:02Z</dcterms:created>
  <dcterms:modified xsi:type="dcterms:W3CDTF">2026-09-18T08:32:20Z</dcterms:modified>
</cp:coreProperties>
</file>