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147D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23629.73245043</c:v>
                </c:pt>
                <c:pt idx="1">
                  <c:v>15425.05148878</c:v>
                </c:pt>
                <c:pt idx="2">
                  <c:v>8228.444836949997</c:v>
                </c:pt>
                <c:pt idx="3">
                  <c:v>15142.791950120001</c:v>
                </c:pt>
                <c:pt idx="4">
                  <c:v>7945.1445209700005</c:v>
                </c:pt>
                <c:pt idx="5">
                  <c:v>10977.71731453</c:v>
                </c:pt>
                <c:pt idx="6">
                  <c:v>12815.602891169996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788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16077.804230040001</c:v>
                </c:pt>
                <c:pt idx="1">
                  <c:v>24658.807590580003</c:v>
                </c:pt>
                <c:pt idx="2">
                  <c:v>6678.532352009998</c:v>
                </c:pt>
                <c:pt idx="3">
                  <c:v>18830.801148119997</c:v>
                </c:pt>
                <c:pt idx="4">
                  <c:v>8430.256089229999</c:v>
                </c:pt>
                <c:pt idx="5">
                  <c:v>11192.24025317</c:v>
                </c:pt>
                <c:pt idx="6">
                  <c:v>13077.248726389993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680000"/>
          <a:lstStyle/>
          <a:p>
            <a:pPr>
              <a:defRPr sz="800" b="0" i="0" u="none" strike="noStrike">
                <a:solidFill>
                  <a:srgbClr val="243B5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97.392956884403"/>
        </c:scaling>
        <c:delete val="0"/>
        <c:axPos val="l"/>
        <c:majorGridlines>
          <c:spPr>
            <a:ln w="12700" cap="flat">
              <a:solidFill>
                <a:srgbClr val="E7EDF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7D9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147D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52905.38741462</c:v>
                </c:pt>
                <c:pt idx="1">
                  <c:v>11411.06192181</c:v>
                </c:pt>
                <c:pt idx="2">
                  <c:v>9535.713154770001</c:v>
                </c:pt>
                <c:pt idx="3">
                  <c:v>4671.531768</c:v>
                </c:pt>
                <c:pt idx="4">
                  <c:v>9004.285163789995</c:v>
                </c:pt>
                <c:pt idx="5">
                  <c:v>6636.50603035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788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57995.17975198</c:v>
                </c:pt>
                <c:pt idx="1">
                  <c:v>9117.48825956</c:v>
                </c:pt>
                <c:pt idx="2">
                  <c:v>10070.85497389</c:v>
                </c:pt>
                <c:pt idx="3">
                  <c:v>4224.25481504</c:v>
                </c:pt>
                <c:pt idx="4">
                  <c:v>10650.983724719992</c:v>
                </c:pt>
                <c:pt idx="5">
                  <c:v>6886.92886435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680000"/>
          <a:lstStyle/>
          <a:p>
            <a:pPr>
              <a:defRPr sz="800" b="0" i="0" u="none" strike="noStrike">
                <a:solidFill>
                  <a:srgbClr val="243B5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434.3121073364"/>
        </c:scaling>
        <c:delete val="0"/>
        <c:axPos val="l"/>
        <c:majorGridlines>
          <c:spPr>
            <a:ln w="12700" cap="flat">
              <a:solidFill>
                <a:srgbClr val="E7EDF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7D9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147D78"/>
          </a:solidFill>
          <a:ln w="12700">
            <a:solidFill>
              <a:srgbClr val="147D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5" kern="0" dirty="0">
                <a:solidFill>
                  <a:srgbClr val="B8D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SHEET  /  ASSETS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20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Jun-26 compared with Mar-26  ·  Values in mINR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5488" y="1298448"/>
            <a:ext cx="11237976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566928" y="1353312"/>
          <a:ext cx="1104595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3434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COMPARISON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4535424"/>
          <a:ext cx="6922008" cy="1682496"/>
        </p:xfrm>
        <a:graphic>
          <a:graphicData uri="http://schemas.openxmlformats.org/drawingml/2006/table">
            <a:tbl>
              <a:tblPr/>
              <a:tblGrid>
                <a:gridCol w="2331720"/>
                <a:gridCol w="1078992"/>
                <a:gridCol w="1078992"/>
                <a:gridCol w="1353312"/>
                <a:gridCol w="1078992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 &amp; Cash equivalents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23,630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16,078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+7,552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Trade Receivables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15,425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24,659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-9,234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-37.4%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current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8,228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6,679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+1,550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+23.2%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Investments in Group Entities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15,143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18,831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-3,688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Right-of-use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7,945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8,430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-485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-5.8%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Fixed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10,978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11,192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-1.9%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Noncurrent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12,816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13,077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80960" y="4343400"/>
            <a:ext cx="402336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82128" y="4517136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ATTENTION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82128" y="472744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Old-balance checks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82128" y="492861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Receivables: 15,425 mINR at Jun-26 (16.4% of assets); change -9,234.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equivalents: 23,630 mINR at Jun-26 (25.1% of assets); change +7,552.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882128" y="547725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account movements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882128" y="5678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equivalents: Bank balances ≤ 90 days · +10,460 mINR (+670.2%).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Receivables: Trade receivables - K · -8,737 mINR (-40.8%).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30352" y="6510528"/>
            <a:ext cx="11155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147D78"/>
          </a:solidFill>
          <a:ln w="12700">
            <a:solidFill>
              <a:srgbClr val="147D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5" kern="0" dirty="0">
                <a:solidFill>
                  <a:srgbClr val="B8D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SHEET  /  LIABILITIES &amp; EQUITY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20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Jun-26 compared with Mar-26  ·  Values in mINR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5488" y="1298448"/>
            <a:ext cx="11237976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566928" y="1353312"/>
          <a:ext cx="1104595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3434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COMPARISON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4535424"/>
          <a:ext cx="6922008" cy="1568196"/>
        </p:xfrm>
        <a:graphic>
          <a:graphicData uri="http://schemas.openxmlformats.org/drawingml/2006/table">
            <a:tbl>
              <a:tblPr/>
              <a:tblGrid>
                <a:gridCol w="2331720"/>
                <a:gridCol w="1078992"/>
                <a:gridCol w="1078992"/>
                <a:gridCol w="1353312"/>
                <a:gridCol w="1078992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Equity &amp; reserves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52,905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57,995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-5,090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-8.8%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Trade Payables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11,411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9,117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+2,294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+25.2%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Lease liabilities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9,536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10,071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Provisions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4,672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4,224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+447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Liabilities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9,004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10,651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-1,647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-15.5%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Non-current liabilities &amp; provisions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6,637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6,887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80960" y="4343400"/>
            <a:ext cx="402336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82128" y="4517136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ATTENTION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82128" y="472744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Old-balance checks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82128" y="492861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Debt/equity 0.78 vs 0.71; equity ratio 56.2% vs 58.6%.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&amp; reserves: 52,905 mINR at Jun-26 (56.2% of assets); change -5,090.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882128" y="547725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account movements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882128" y="5678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Non-current liabilities &amp; provisions: Provisions for pensions, similar oblig. · -1,660 mINR (-100.0%).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Payables: Trade payables  - 3rd, B-c, B-f · +1,459 mINR (+28.9%).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30352" y="6510528"/>
            <a:ext cx="11155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2026-09-28T21:25:43Z</dcterms:created>
  <dcterms:modified xsi:type="dcterms:W3CDTF">2026-09-28T21:25:43Z</dcterms:modified>
</cp:coreProperties>
</file>