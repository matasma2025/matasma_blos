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67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3406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00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YTD'26 – YOY : July'26 v July'25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P&amp;L Analysis · All entities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20840" y="7315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in mINR · YOY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62288" y="7315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424160" y="73152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INR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3024126"/>
              </p:ext>
            </p:extLst>
          </p:nvPr>
        </p:nvGraphicFramePr>
        <p:xfrm>
          <a:off x="438912" y="1170432"/>
          <a:ext cx="5138928" cy="3963924"/>
        </p:xfrm>
        <a:graphic>
          <a:graphicData uri="http://schemas.openxmlformats.org/drawingml/2006/table">
            <a:tbl>
              <a:tblPr/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entities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 2025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YTD07'26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YTD07'25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Variance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006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88,420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Employee Benefits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39,500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138,967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Consultancy Charges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2,287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 Charges &amp; Other Revenue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6,853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Facilities Cost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12,217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10,152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Expenses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2,548,014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-2,459,594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EBIT% of TNS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-2781.7%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onroll</a:t>
                      </a:r>
                      <a:r>
                        <a:rPr lang="en-US" sz="610" dirty="0" err="1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28,671.5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 capacity outsourcing</a:t>
                      </a:r>
                      <a:r>
                        <a:rPr lang="en-US" sz="61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/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3,884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End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32,555.5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onroll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Capacity outsourcing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10" b="1" dirty="0">
                          <a:solidFill>
                            <a:srgbClr val="2632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Average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610" b="1" dirty="0">
                          <a:solidFill>
                            <a:srgbClr val="3B47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6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>
                    <a:lnL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BCC7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36208" y="1143000"/>
            <a:ext cx="5413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movements from the selected comparison</a:t>
            </a:r>
            <a:endParaRPr lang="en-US" sz="920" dirty="0"/>
          </a:p>
        </p:txBody>
      </p:sp>
      <p:sp>
        <p:nvSpPr>
          <p:cNvPr id="9" name="Text 6"/>
          <p:cNvSpPr/>
          <p:nvPr/>
        </p:nvSpPr>
        <p:spPr>
          <a:xfrm>
            <a:off x="6236208" y="141732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7562088" y="140817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1" name="Text 8"/>
          <p:cNvSpPr/>
          <p:nvPr/>
        </p:nvSpPr>
        <p:spPr>
          <a:xfrm>
            <a:off x="6236208" y="193852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740" dirty="0"/>
          </a:p>
        </p:txBody>
      </p:sp>
      <p:sp>
        <p:nvSpPr>
          <p:cNvPr id="12" name="Text 9"/>
          <p:cNvSpPr/>
          <p:nvPr/>
        </p:nvSpPr>
        <p:spPr>
          <a:xfrm>
            <a:off x="7562088" y="1929384"/>
            <a:ext cx="4087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3" name="Text 10"/>
          <p:cNvSpPr/>
          <p:nvPr/>
        </p:nvSpPr>
        <p:spPr>
          <a:xfrm>
            <a:off x="6236208" y="265176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Outsourcing cost</a:t>
            </a:r>
            <a:endParaRPr lang="en-US" sz="740" dirty="0"/>
          </a:p>
        </p:txBody>
      </p:sp>
      <p:sp>
        <p:nvSpPr>
          <p:cNvPr id="14" name="Text 11"/>
          <p:cNvSpPr/>
          <p:nvPr/>
        </p:nvSpPr>
        <p:spPr>
          <a:xfrm>
            <a:off x="7562088" y="2642616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5" name="Text 12"/>
          <p:cNvSpPr/>
          <p:nvPr/>
        </p:nvSpPr>
        <p:spPr>
          <a:xfrm>
            <a:off x="6236208" y="31729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Consultancy cost</a:t>
            </a:r>
            <a:endParaRPr lang="en-US" sz="740" dirty="0"/>
          </a:p>
        </p:txBody>
      </p:sp>
      <p:sp>
        <p:nvSpPr>
          <p:cNvPr id="16" name="Text 13"/>
          <p:cNvSpPr/>
          <p:nvPr/>
        </p:nvSpPr>
        <p:spPr>
          <a:xfrm>
            <a:off x="7562088" y="3163824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7" name="Text 14"/>
          <p:cNvSpPr/>
          <p:nvPr/>
        </p:nvSpPr>
        <p:spPr>
          <a:xfrm>
            <a:off x="6236208" y="3694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Charges &amp; Other Revenue</a:t>
            </a:r>
            <a:endParaRPr lang="en-US" sz="740" dirty="0"/>
          </a:p>
        </p:txBody>
      </p:sp>
      <p:sp>
        <p:nvSpPr>
          <p:cNvPr id="18" name="Text 15"/>
          <p:cNvSpPr/>
          <p:nvPr/>
        </p:nvSpPr>
        <p:spPr>
          <a:xfrm>
            <a:off x="7562088" y="3685032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6236208" y="42153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Cost</a:t>
            </a:r>
            <a:endParaRPr lang="en-US" sz="740" dirty="0"/>
          </a:p>
        </p:txBody>
      </p:sp>
      <p:sp>
        <p:nvSpPr>
          <p:cNvPr id="20" name="Text 17"/>
          <p:cNvSpPr/>
          <p:nvPr/>
        </p:nvSpPr>
        <p:spPr>
          <a:xfrm>
            <a:off x="7562088" y="4206240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21" name="Text 18"/>
          <p:cNvSpPr/>
          <p:nvPr/>
        </p:nvSpPr>
        <p:spPr>
          <a:xfrm>
            <a:off x="6236208" y="473659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00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expenses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7562088" y="4727448"/>
            <a:ext cx="40873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unavailable because one or more source snapshots are missing.</a:t>
            </a:r>
            <a:endParaRPr lang="en-US" sz="630" dirty="0"/>
          </a:p>
        </p:txBody>
      </p:sp>
      <p:sp>
        <p:nvSpPr>
          <p:cNvPr id="23" name="Text 20"/>
          <p:cNvSpPr/>
          <p:nvPr/>
        </p:nvSpPr>
        <p:spPr>
          <a:xfrm>
            <a:off x="6236208" y="528523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40" i="1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source snapshots are missing (Jul 2025: Revenue Summary and Cost Summary; Dec 2025: Revenue Summary and Cost Summary); affected P&amp;L values are 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6236208" y="5806440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657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July 2026 · Actual and CF scenarios remain separate.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0" y="6565392"/>
            <a:ext cx="7909560" cy="292608"/>
          </a:xfrm>
          <a:prstGeom prst="rect">
            <a:avLst/>
          </a:prstGeom>
          <a:solidFill>
            <a:srgbClr val="008A99"/>
          </a:solidFill>
          <a:ln w="12700">
            <a:solidFill>
              <a:srgbClr val="008A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7909560" y="6565392"/>
            <a:ext cx="2423160" cy="292608"/>
          </a:xfrm>
          <a:prstGeom prst="rect">
            <a:avLst/>
          </a:prstGeom>
          <a:solidFill>
            <a:srgbClr val="E20015"/>
          </a:solidFill>
          <a:ln w="12700">
            <a:solidFill>
              <a:srgbClr val="E200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0332720" y="6565392"/>
            <a:ext cx="1856232" cy="292608"/>
          </a:xfrm>
          <a:prstGeom prst="rect">
            <a:avLst/>
          </a:prstGeom>
          <a:solidFill>
            <a:srgbClr val="00A7B5"/>
          </a:solidFill>
          <a:ln w="12700">
            <a:solidFill>
              <a:srgbClr val="00A7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384048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</a:t>
            </a:r>
            <a:endParaRPr lang="en-US" sz="550" dirty="0"/>
          </a:p>
        </p:txBody>
      </p:sp>
      <p:sp>
        <p:nvSpPr>
          <p:cNvPr id="29" name="Text 26"/>
          <p:cNvSpPr/>
          <p:nvPr/>
        </p:nvSpPr>
        <p:spPr>
          <a:xfrm>
            <a:off x="10817352" y="657453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603</Words>
  <Application>Microsoft Office PowerPoint</Application>
  <PresentationFormat>Widescreen</PresentationFormat>
  <Paragraphs>152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Entity P&amp;L Analysis Template</dc:title>
  <dc:subject>Editable Entity P&amp;L PowerPoint template</dc:subject>
  <dc:creator>LedgerLM</dc:creator>
  <cp:lastModifiedBy>Rahitha</cp:lastModifiedBy>
  <cp:revision>2</cp:revision>
  <dcterms:created xsi:type="dcterms:W3CDTF">2026-08-20T14:50:05Z</dcterms:created>
  <dcterms:modified xsi:type="dcterms:W3CDTF">2026-08-24T05:48:23Z</dcterms:modified>
</cp:coreProperties>
</file>