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 2026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Other current</c:v>
                  </c:pt>
                  <c:pt idx="1">
                    <c:v>Trade receivables</c:v>
                  </c:pt>
                  <c:pt idx="2">
                    <c:v>Cash &amp; equivalents</c:v>
                  </c:pt>
                  <c:pt idx="3">
                    <c:v>Other non-current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31987604548.010002</c:v>
                </c:pt>
                <c:pt idx="1">
                  <c:v>14565878356.179998</c:v>
                </c:pt>
                <c:pt idx="2">
                  <c:v>12020967187.35</c:v>
                </c:pt>
                <c:pt idx="3">
                  <c:v>1391945670.4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 2026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Other current</c:v>
                  </c:pt>
                  <c:pt idx="1">
                    <c:v>Trade receivables</c:v>
                  </c:pt>
                  <c:pt idx="2">
                    <c:v>Cash &amp; equivalents</c:v>
                  </c:pt>
                  <c:pt idx="3">
                    <c:v>Other non-current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33308487466.850002</c:v>
                </c:pt>
                <c:pt idx="1">
                  <c:v>23799634457.98</c:v>
                </c:pt>
                <c:pt idx="2">
                  <c:v>1560769284</c:v>
                </c:pt>
                <c:pt idx="3">
                  <c:v>1714229923.4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100000"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1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 2026</c:v>
                </c:pt>
              </c:strCache>
            </c:strRef>
          </c:tx>
          <c:spPr>
            <a:solidFill>
              <a:srgbClr val="4397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Provisions</c:v>
                  </c:pt>
                  <c:pt idx="1">
                    <c:v>Trade payables</c:v>
                  </c:pt>
                  <c:pt idx="2">
                    <c:v>Lease liabilities</c:v>
                  </c:pt>
                  <c:pt idx="3">
                    <c:v>Other liabilities</c:v>
                  </c:pt>
                  <c:pt idx="4">
                    <c:v>Equity &amp; reserves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11445239046.46</c:v>
                </c:pt>
                <c:pt idx="1">
                  <c:v>11411061921.81</c:v>
                </c:pt>
                <c:pt idx="2">
                  <c:v>9535713154.77</c:v>
                </c:pt>
                <c:pt idx="3">
                  <c:v>8867083914.68</c:v>
                </c:pt>
                <c:pt idx="4">
                  <c:v>41597800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 2026</c:v>
                </c:pt>
              </c:strCache>
            </c:strRef>
          </c:tx>
          <c:spPr>
            <a:solidFill>
              <a:srgbClr val="BC40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Provisions</c:v>
                  </c:pt>
                  <c:pt idx="1">
                    <c:v>Trade payables</c:v>
                  </c:pt>
                  <c:pt idx="2">
                    <c:v>Lease liabilities</c:v>
                  </c:pt>
                  <c:pt idx="3">
                    <c:v>Other liabilities</c:v>
                  </c:pt>
                  <c:pt idx="4">
                    <c:v>Equity &amp; reserves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14098180791.07</c:v>
                </c:pt>
                <c:pt idx="1">
                  <c:v>9117488259.56</c:v>
                </c:pt>
                <c:pt idx="2">
                  <c:v>10070854973.89</c:v>
                </c:pt>
                <c:pt idx="3">
                  <c:v>10983517308.660002</c:v>
                </c:pt>
                <c:pt idx="4">
                  <c:v>41597800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100000"/>
          <a:lstStyle/>
          <a:p>
            <a:pPr>
              <a:defRPr sz="800" b="0" i="0" u="none" strike="noStrike">
                <a:solidFill>
                  <a:srgbClr val="33333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E1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6666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Assets as of Jun 2026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11480" y="868680"/>
          <a:ext cx="507492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806440" y="841248"/>
            <a:ext cx="5943600" cy="3337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current: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31,987,604,548 USD at Jun 2026 vs 33,308,487,467 USD at Mar 2026: -1,320,882,919 (-4.0%).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receivables: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14,565,878,356 USD at Jun 2026 vs 23,799,634,458 USD at Mar 2026: -9,233,756,102 (-38.8%).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Trade receivables - K changed by -8,736,671,696 USD (-40.8%).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&amp; equivalents: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12,020,967,187 USD at Jun 2026 vs 1,560,769,284 USD at Mar 2026: +10,460,197,903 (+670.2%).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non-current: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1,391,945,670 USD at Jun 2026 vs 1,714,229,923 USD at Mar 2026: -322,284,253 (-18.8%).</a:t>
            </a:r>
            <a:endParaRPr lang="en-US" sz="870" dirty="0"/>
          </a:p>
        </p:txBody>
      </p:sp>
      <p:sp>
        <p:nvSpPr>
          <p:cNvPr id="5" name="Text 2"/>
          <p:cNvSpPr/>
          <p:nvPr/>
        </p:nvSpPr>
        <p:spPr>
          <a:xfrm>
            <a:off x="429768" y="38221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USD.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29768" y="41330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29768" y="4370832"/>
            <a:ext cx="112014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Cash &amp; equivalents remains 12,020,967,187 USD at Jun 2026 (20.0% of total assets); validate the underlying account mix and any reclassification behind the +10,460,197,903 USD movement.</a:t>
            </a:r>
            <a:endParaRPr lang="en-US" sz="84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receivables remains 14,565,878,356 USD at Jun 2026 (24.3% of total assets); validate the underlying account mix and any reclassification behind the -9,233,756,102 USD movement.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429768" y="6565392"/>
            <a:ext cx="11292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bs · comparison uses the latest earlier loaded period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Sheet – Liabilities as of Jun 2026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11480" y="868680"/>
          <a:ext cx="507492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806440" y="841248"/>
            <a:ext cx="5943600" cy="3337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Provisions: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11,445,239,046 USD at Jun 2026 vs 14,098,180,791 USD at Mar 2026: -2,652,941,745 (-18.8%).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payables: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11,411,061,922 USD at Jun 2026 vs 9,117,488,260 USD at Mar 2026: +2,293,573,662 (+25.2%).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Trade payables  - 3rd, B-c, B-f changed by +1,458,788,894 USD (+28.9%).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Lease liabilities: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9,535,713,155 USD at Jun 2026 vs 10,070,854,974 USD at Mar 2026: -535,141,819 (-5.3%).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liabilities: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8,867,083,915 USD at Jun 2026 vs 10,983,517,309 USD at Mar 2026: -2,116,433,394 (-19.3%).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Main account movement: Liabil. to board members, employees ≤ 1 y changed by -624,618,379 USD (-44.5%).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Equity &amp; reserves:</a:t>
            </a:r>
            <a:endParaRPr lang="en-US" sz="87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7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41,597,800 USD at Jun 2026 vs 41,597,800 USD at Mar 2026: +0 (+0.0%).</a:t>
            </a:r>
            <a:endParaRPr lang="en-US" sz="870" dirty="0"/>
          </a:p>
        </p:txBody>
      </p:sp>
      <p:sp>
        <p:nvSpPr>
          <p:cNvPr id="5" name="Text 2"/>
          <p:cNvSpPr/>
          <p:nvPr/>
        </p:nvSpPr>
        <p:spPr>
          <a:xfrm>
            <a:off x="429768" y="38221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in USD.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29768" y="41330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pointers on old balances: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29768" y="4370832"/>
            <a:ext cx="112014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Provisions remains 11,445,239,046 USD at Jun 2026 (19.1% of total assets); validate the underlying account mix and any reclassification behind the -2,652,941,745 USD movement.</a:t>
            </a:r>
            <a:endParaRPr lang="en-US" sz="84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4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Trade payables remains 11,411,061,922 USD at Jun 2026 (19.0% of total assets); validate the underlying account mix and any reclassification behind the +2,293,573,662 USD movement.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429768" y="6565392"/>
            <a:ext cx="112928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bs · comparison uses the latest earlier loaded period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Balance Sheet standalone analysis</dc:subject>
  <dc:creator>LedgerLM</dc:creator>
  <cp:lastModifiedBy>LedgerLM</cp:lastModifiedBy>
  <cp:revision>1</cp:revision>
  <dcterms:created xsi:type="dcterms:W3CDTF">2026-09-23T19:32:31Z</dcterms:created>
  <dcterms:modified xsi:type="dcterms:W3CDTF">2026-09-23T19:32:31Z</dcterms:modified>
</cp:coreProperties>
</file>