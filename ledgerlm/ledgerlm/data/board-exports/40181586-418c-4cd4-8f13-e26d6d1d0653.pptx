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8412163"/>
  <p:notesSz cx="841216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2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3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496312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19" name="Shape 17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World Wide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915.9 mUSD is higher by 23.6 mUSD compared with Forecast 892.3 mUSD.
MS: YTD 07.26 Actual 612.3 mUSD is higher by 6.8 mUSD compared with Forecast 605.4 mUSD.
MM: YTD 07.26 Actual 56.1 mUSD is higher by 1.8 mUSD compared with Forecast 54.4 mUSD.
SDS: YTD 07.26 Actual 58.9 mUSD is higher by 4.2 mUSD compared with Forecast 54.7 mUSD.
MS-External: YTD 07.26 Actual 19.1 mUSD is lower by 0.8 mUSD compared with Forecast 19.9 mUSD.
Integrated Service: YTD 07.26 Actual 166.7 mUSD is higher by 12.1 mUSD compared with Forecast 154.5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127248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</a:p>
        </p:txBody>
      </p:sp>
      <p:sp>
        <p:nvSpPr>
          <p:cNvPr id="43" name="Text 41"/>
          <p:cNvSpPr/>
          <p:nvPr/>
        </p:nvSpPr>
        <p:spPr>
          <a:xfrm>
            <a:off x="749808" y="3310128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95.1%; YTD 07.25: —; YTD 06.26 is —
MS: YTD 07.26 is 95.2%; YTD 07.25: —; YTD 06.26 is —
MM: YTD 07.26 is 93.6%; YTD 07.25: —; YTD 06.26 is —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19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</a:p>
        </p:txBody>
      </p:sp>
      <p:sp>
        <p:nvSpPr>
          <p:cNvPr id="46" name="Text 44"/>
          <p:cNvSpPr/>
          <p:nvPr/>
        </p:nvSpPr>
        <p:spPr>
          <a:xfrm>
            <a:off x="749808" y="443484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100.7%; YTD 07.25: —; YTD 06.26 is —
MS: YTD 07.26 is 100.8%; YTD 07.25: —; YTD 06.26 is —
MM: YTD 07.26 is 99.5%;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4126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4144"/>
            <a:ext cx="107167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31,541.6 HC is higher by 100.9 HC compared with Forecast 31,440.8 HC.
MS: YTD 07.26 Actual 20,088.2 HC is lower by 112.6 HC compared with Forecast 20,200.9 HC.
MM: YTD 07.26 Actual 1,870.5 HC is higher by 27.4 HC compared with Forecast 1,843.1 HC.
SDS: YTD 07.26 Actual 2,158.5 HC is higher by 87.5 HC compared with Forecast 2,071 HC.
Integrated Service: YTD 07.26 Actual 7,141.5 HC is higher by 111.4 HC compared with Forecast 7,030.1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81584" y="7306516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pPr algn="l"/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4632" y="69128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4632" y="7123176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4632" y="7443216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8320" y="7863840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World Wide  •  Slide 1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  <p:pic>
        <p:nvPicPr>
          <p:cNvPr id="61" name="Picture 60" descr="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16" y="1014984"/>
            <a:ext cx="411480" cy="274320"/>
          </a:xfrm>
          <a:prstGeom prst="rect">
            <a:avLst/>
          </a:prstGeom>
        </p:spPr>
      </p:pic>
      <p:pic>
        <p:nvPicPr>
          <p:cNvPr id="62" name="Picture 61" descr="v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068" y="1014984"/>
            <a:ext cx="411480" cy="274320"/>
          </a:xfrm>
          <a:prstGeom prst="rect">
            <a:avLst/>
          </a:prstGeom>
        </p:spPr>
      </p:pic>
      <p:pic>
        <p:nvPicPr>
          <p:cNvPr id="63" name="Picture 62" descr="m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031966"/>
            <a:ext cx="420624" cy="2403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626864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BGSW India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742.5 mUSD is higher by 20.6 mUSD compared with Forecast 721.9 mUSD.
MS: YTD 07.26 Actual 507 mUSD is higher by 7.7 mUSD compared with Forecast 499.3 mUSD.
MM: YTD 07.26 Actual 42.3 mUSD is higher by 1.5 mUSD compared with Forecast 40.9 mUSD.
SDS: YTD 07.26 Actual 37.7 mUSD is higher by 1.3 mUSD compared with Forecast 36.5 mUSD.
MS-External: YTD 07.26 Actual 14.4 mUSD is lower by 0.4 mUSD compared with Forecast 14.8 mUSD.
Integrated Service: YTD 07.26 Actual 138.2 mUSD is higher by 11.3 mUSD compared with Forecast 126.9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127248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310128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95.1%; YTD 07.25: —; YTD 06.26 is —
MS: YTD 07.26 is 95.2%; YTD 07.25: —; YTD 06.26 is —
MM: YTD 07.26 is 93.5%; YTD 07.25: —; YTD 06.26 is —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19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49808" y="443484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100.3%; YTD 07.25: —; YTD 06.26 is —
MS: YTD 07.26 is 100.3%; YTD 07.25: —; YTD 06.26 is —
MM: YTD 07.26 is 100.1%;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4126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49808" y="5724144"/>
            <a:ext cx="107167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26,568.6 HC is higher by 215.6 HC compared with Forecast 26,353 HC.
MS: YTD 07.26 Actual 16,948.9 HC is lower by 54.3 HC compared with Forecast 17,003.2 HC.
MM: YTD 07.26 Actual 1,428.3 HC is higher by 24.5 HC compared with Forecast 1,403.8 HC.
SDS: YTD 07.26 Actual 1,947.8 HC is higher by 97.1 HC compared with Forecast 1,850.7 HC.
Integrated Service: YTD 07.26 Actual 5,960.7 HC is higher by 159.2 HC compared with Forecast 5,801.5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93776" y="6780393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pPr algn="l"/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84632" y="69128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4632" y="7123176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4632" y="7443216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8320" y="7863840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BGSW  •  Slide 2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  <p:pic>
        <p:nvPicPr>
          <p:cNvPr id="61" name="Picture 60" descr="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16" y="1014984"/>
            <a:ext cx="411480" cy="274320"/>
          </a:xfrm>
          <a:prstGeom prst="rect">
            <a:avLst/>
          </a:prstGeom>
        </p:spPr>
      </p:pic>
      <p:pic>
        <p:nvPicPr>
          <p:cNvPr id="62" name="Picture 61" descr="v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068" y="1014984"/>
            <a:ext cx="411480" cy="274320"/>
          </a:xfrm>
          <a:prstGeom prst="rect">
            <a:avLst/>
          </a:prstGeom>
        </p:spPr>
      </p:pic>
      <p:pic>
        <p:nvPicPr>
          <p:cNvPr id="63" name="Picture 62" descr="m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031966"/>
            <a:ext cx="420624" cy="2403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757416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BGSV Vietnam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112.4 mUSD is higher by 0.6 mUSD compared with Forecast 111.9 mUSD.
MS: YTD 07.26 Actual 74.8 mUSD is lower by 0.1 mUSD compared with Forecast 74.9 mUSD.
MM: YTD 07.26 Actual 6.7 mUSD is lower by 0.1 mUSD compared with Forecast 6.9 mUSD.
SDS: YTD 07.26 Actual 2.3 mUSD is lower by 0.2 mUSD compared with Forecast 2.5 mUSD.
Integrated Service: YTD 07.26 Actual 28.6 mUSD is higher by 1 mUSD compared with Forecast 27.6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127248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310128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95.7%; YTD 07.25: —; YTD 06.26 is —
MS: YTD 07.26 is 95.8%; YTD 07.25: —; YTD 06.26 is —
MM: YTD 07.26 is 93.9%; YTD 07.25: —; YTD 06.26 is —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19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49808" y="443484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103.3%; YTD 07.25: —; YTD 06.26 is —
MS: YTD 07.26 is 104.3%; YTD 07.25: —; YTD 06.26 is —
MM: YTD 07.26 is 96.8%;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4126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49808" y="5724144"/>
            <a:ext cx="107167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4,033.9 HC is lower by 92.5 HC compared with Forecast 4,126.4 HC.
MS: YTD 07.26 Actual 2,504.2 HC is lower by 32.1 HC compared with Forecast 2,536.3 HC.
MM: YTD 07.26 Actual 243.8 HC is lower by 29.5 HC compared with Forecast 273.3 HC.
SDS: YTD 07.26 Actual 110.9 HC is higher by 22.7 HC compared with Forecast 88.3 HC.
Integrated Service: YTD 07.26 Actual 1,175 HC is lower by 53.6 HC compared with Forecast 1,228.6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38912" y="6885312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pPr algn="l"/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84632" y="69128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4632" y="7123176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4632" y="7443216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8320" y="7863840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BGSV  •  Slide 3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  <p:pic>
        <p:nvPicPr>
          <p:cNvPr id="61" name="Picture 60" descr="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16" y="1014984"/>
            <a:ext cx="411480" cy="274320"/>
          </a:xfrm>
          <a:prstGeom prst="rect">
            <a:avLst/>
          </a:prstGeom>
        </p:spPr>
      </p:pic>
      <p:pic>
        <p:nvPicPr>
          <p:cNvPr id="62" name="Picture 61" descr="v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068" y="1014984"/>
            <a:ext cx="411480" cy="274320"/>
          </a:xfrm>
          <a:prstGeom prst="rect">
            <a:avLst/>
          </a:prstGeom>
        </p:spPr>
      </p:pic>
      <p:pic>
        <p:nvPicPr>
          <p:cNvPr id="63" name="Picture 62" descr="m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031966"/>
            <a:ext cx="420624" cy="2403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8887968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A83678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</a:t>
            </a:r>
            <a:endParaRPr lang="en-US" sz="4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pPr algn="l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83678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/ info to GLs — NE-MX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29.9 mUSD is higher by 1.1 mUSD compared with Forecast 28.8 mUSD.
MS: YTD 07.26 Actual 21.7 mUSD is lower by 0.2 mUSD compared with Forecast 21.9 mUSD.
MM: YTD 07.26 Actual 7.5 mUSD is higher by 1.5 mUSD compared with Forecast 5.9 mUSD.
SDS: YTD 07.26 Actual 0.7 mUSD is lower by 0.3 mUSD compared with Forecast 1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127248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310128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92.2%; YTD 07.25: —; YTD 06.26 is —
MS: YTD 07.26 is 91.8%; YTD 07.25: —; YTD 06.26 is —
MM: YTD 07.26 is 93.9%;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4126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4144"/>
            <a:ext cx="107167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634.8 HC is higher by 7.8 HC compared with Forecast 627 HC.
MS: YTD 07.26 Actual 454.5 HC is lower by 9.5 HC compared with Forecast 464 HC.
MM: YTD 07.26 Actual 160.5 HC is higher by 24.5 HC compared with Forecast 136 HC.
SDS: YTD 07.26 Actual 21.8 HC is lower by 5.2 HC compared with Forecast 27 HC.</a:t>
            </a:r>
          </a:p>
        </p:txBody>
      </p:sp>
      <p:sp>
        <p:nvSpPr>
          <p:cNvPr id="50" name="Shape 48"/>
          <p:cNvSpPr/>
          <p:nvPr/>
        </p:nvSpPr>
        <p:spPr>
          <a:xfrm>
            <a:off x="521208" y="6793675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pPr algn="l"/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4632" y="69128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&amp; governance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84632" y="7123176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26262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Governed green scope  •  Actuals: Anaplan actuals · unversioned actual export rows  •  Forecast: MBR workbook · YTD Forecast  •  YTD 07.26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84632" y="7443216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26262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Warnings / data-quality notes: Mexico: External Utilization has no actual source rows.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418320" y="7863840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NE-MX  •  Slide 4 of 4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| Governed Enterprise Data | KPI Metrics Board</a:t>
            </a:r>
            <a:endParaRPr lang="en-US" sz="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BOSCH</a:t>
            </a:r>
            <a:endParaRPr lang="en-US" sz="93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1" name="Picture 60" descr="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16" y="1014984"/>
            <a:ext cx="411480" cy="274320"/>
          </a:xfrm>
          <a:prstGeom prst="rect">
            <a:avLst/>
          </a:prstGeom>
        </p:spPr>
      </p:pic>
      <p:pic>
        <p:nvPicPr>
          <p:cNvPr id="62" name="Picture 61" descr="v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068" y="1014984"/>
            <a:ext cx="411480" cy="274320"/>
          </a:xfrm>
          <a:prstGeom prst="rect">
            <a:avLst/>
          </a:prstGeom>
        </p:spPr>
      </p:pic>
      <p:pic>
        <p:nvPicPr>
          <p:cNvPr id="63" name="Picture 62" descr="m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031966"/>
            <a:ext cx="420624" cy="2403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774</Words>
  <Application>Microsoft Office PowerPoint</Application>
  <PresentationFormat>Custom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Metrics KPI Report — Four Entity Template</dc:title>
  <dc:subject>Four-entity editable governed KPI Metrics PowerPoint template</dc:subject>
  <dc:creator>LedgerLM</dc:creator>
  <cp:lastModifiedBy>Rahitha</cp:lastModifiedBy>
  <cp:revision>7</cp:revision>
  <dcterms:created xsi:type="dcterms:W3CDTF">2026-09-03T06:22:02Z</dcterms:created>
  <dcterms:modified xsi:type="dcterms:W3CDTF">2026-09-18T08:32:20Z</dcterms:modified>
</cp:coreProperties>
</file>