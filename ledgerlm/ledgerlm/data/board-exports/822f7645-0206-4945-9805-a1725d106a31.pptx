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3BB58C-4285-E54D-AAA4-A58B3B499707}" v="13" dt="2026-08-15T11:35:40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15" d="100"/>
          <a:sy n="115" d="100"/>
        </p:scale>
        <p:origin x="10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asma Decision Systems" userId="9b03e83d-e285-40f6-aa4e-7c4adb2de517" providerId="ADAL" clId="{CC2EEBC2-1EA0-513D-8216-7ADCF43D64FA}"/>
    <pc:docChg chg="undo custSel addSld delSld modSld">
      <pc:chgData name="Matasma Decision Systems" userId="9b03e83d-e285-40f6-aa4e-7c4adb2de517" providerId="ADAL" clId="{CC2EEBC2-1EA0-513D-8216-7ADCF43D64FA}" dt="2026-08-15T11:36:10.254" v="462" actId="20577"/>
      <pc:docMkLst>
        <pc:docMk/>
      </pc:docMkLst>
      <pc:sldChg chg="del">
        <pc:chgData name="Matasma Decision Systems" userId="9b03e83d-e285-40f6-aa4e-7c4adb2de517" providerId="ADAL" clId="{CC2EEBC2-1EA0-513D-8216-7ADCF43D64FA}" dt="2026-08-15T11:31:00.542" v="331" actId="2696"/>
        <pc:sldMkLst>
          <pc:docMk/>
          <pc:sldMk cId="2071895549" sldId="256"/>
        </pc:sldMkLst>
      </pc:sldChg>
      <pc:sldChg chg="addSp delSp modSp mod">
        <pc:chgData name="Matasma Decision Systems" userId="9b03e83d-e285-40f6-aa4e-7c4adb2de517" providerId="ADAL" clId="{CC2EEBC2-1EA0-513D-8216-7ADCF43D64FA}" dt="2026-08-15T11:36:10.254" v="462" actId="20577"/>
        <pc:sldMkLst>
          <pc:docMk/>
          <pc:sldMk cId="3170537333" sldId="257"/>
        </pc:sldMkLst>
        <pc:spChg chg="add mod">
          <ac:chgData name="Matasma Decision Systems" userId="9b03e83d-e285-40f6-aa4e-7c4adb2de517" providerId="ADAL" clId="{CC2EEBC2-1EA0-513D-8216-7ADCF43D64FA}" dt="2026-08-15T11:32:32.450" v="334"/>
          <ac:spMkLst>
            <pc:docMk/>
            <pc:sldMk cId="3170537333" sldId="257"/>
            <ac:spMk id="2" creationId="{61E8F4E6-422B-BAF6-9AEE-83725AE1EF47}"/>
          </ac:spMkLst>
        </pc:spChg>
        <pc:spChg chg="mod">
          <ac:chgData name="Matasma Decision Systems" userId="9b03e83d-e285-40f6-aa4e-7c4adb2de517" providerId="ADAL" clId="{CC2EEBC2-1EA0-513D-8216-7ADCF43D64FA}" dt="2026-08-15T11:36:10.254" v="462" actId="20577"/>
          <ac:spMkLst>
            <pc:docMk/>
            <pc:sldMk cId="3170537333" sldId="257"/>
            <ac:spMk id="5" creationId="{BDB95BE0-20EB-9FEE-BA3A-62984C6797BE}"/>
          </ac:spMkLst>
        </pc:spChg>
        <pc:spChg chg="del">
          <ac:chgData name="Matasma Decision Systems" userId="9b03e83d-e285-40f6-aa4e-7c4adb2de517" providerId="ADAL" clId="{CC2EEBC2-1EA0-513D-8216-7ADCF43D64FA}" dt="2026-08-15T11:32:19.540" v="333" actId="478"/>
          <ac:spMkLst>
            <pc:docMk/>
            <pc:sldMk cId="3170537333" sldId="257"/>
            <ac:spMk id="6" creationId="{61158D30-748F-E5C0-BA6F-189230DE4DD5}"/>
          </ac:spMkLst>
        </pc:spChg>
        <pc:spChg chg="mod">
          <ac:chgData name="Matasma Decision Systems" userId="9b03e83d-e285-40f6-aa4e-7c4adb2de517" providerId="ADAL" clId="{CC2EEBC2-1EA0-513D-8216-7ADCF43D64FA}" dt="2026-08-15T11:35:54.040" v="459" actId="20577"/>
          <ac:spMkLst>
            <pc:docMk/>
            <pc:sldMk cId="3170537333" sldId="257"/>
            <ac:spMk id="7" creationId="{6558205A-202C-9061-DD56-A1F077DAB07E}"/>
          </ac:spMkLst>
        </pc:spChg>
        <pc:spChg chg="mod">
          <ac:chgData name="Matasma Decision Systems" userId="9b03e83d-e285-40f6-aa4e-7c4adb2de517" providerId="ADAL" clId="{CC2EEBC2-1EA0-513D-8216-7ADCF43D64FA}" dt="2026-08-15T11:33:30.783" v="336"/>
          <ac:spMkLst>
            <pc:docMk/>
            <pc:sldMk cId="3170537333" sldId="257"/>
            <ac:spMk id="8" creationId="{69CC5EA7-4E92-6F6C-1D8A-AE1D80B319CB}"/>
          </ac:spMkLst>
        </pc:spChg>
        <pc:spChg chg="mod">
          <ac:chgData name="Matasma Decision Systems" userId="9b03e83d-e285-40f6-aa4e-7c4adb2de517" providerId="ADAL" clId="{CC2EEBC2-1EA0-513D-8216-7ADCF43D64FA}" dt="2026-08-15T11:34:29.480" v="363" actId="20577"/>
          <ac:spMkLst>
            <pc:docMk/>
            <pc:sldMk cId="3170537333" sldId="257"/>
            <ac:spMk id="9" creationId="{5621DA74-23DA-7A90-AF79-C5426C3054ED}"/>
          </ac:spMkLst>
        </pc:spChg>
        <pc:spChg chg="del">
          <ac:chgData name="Matasma Decision Systems" userId="9b03e83d-e285-40f6-aa4e-7c4adb2de517" providerId="ADAL" clId="{CC2EEBC2-1EA0-513D-8216-7ADCF43D64FA}" dt="2026-08-15T11:35:59.436" v="460" actId="478"/>
          <ac:spMkLst>
            <pc:docMk/>
            <pc:sldMk cId="3170537333" sldId="257"/>
            <ac:spMk id="10" creationId="{BDC19EC1-6447-115D-68CF-92A5A4A03B71}"/>
          </ac:spMkLst>
        </pc:spChg>
        <pc:spChg chg="del">
          <ac:chgData name="Matasma Decision Systems" userId="9b03e83d-e285-40f6-aa4e-7c4adb2de517" providerId="ADAL" clId="{CC2EEBC2-1EA0-513D-8216-7ADCF43D64FA}" dt="2026-08-15T11:35:59.436" v="460" actId="478"/>
          <ac:spMkLst>
            <pc:docMk/>
            <pc:sldMk cId="3170537333" sldId="257"/>
            <ac:spMk id="11" creationId="{188819DE-4401-60D3-7290-551F54CBD4F4}"/>
          </ac:spMkLst>
        </pc:spChg>
        <pc:spChg chg="del">
          <ac:chgData name="Matasma Decision Systems" userId="9b03e83d-e285-40f6-aa4e-7c4adb2de517" providerId="ADAL" clId="{CC2EEBC2-1EA0-513D-8216-7ADCF43D64FA}" dt="2026-08-15T11:32:19.540" v="333" actId="478"/>
          <ac:spMkLst>
            <pc:docMk/>
            <pc:sldMk cId="3170537333" sldId="257"/>
            <ac:spMk id="12" creationId="{026116CD-17BE-69CE-AEBF-03A87A5B6609}"/>
          </ac:spMkLst>
        </pc:spChg>
        <pc:graphicFrameChg chg="del">
          <ac:chgData name="Matasma Decision Systems" userId="9b03e83d-e285-40f6-aa4e-7c4adb2de517" providerId="ADAL" clId="{CC2EEBC2-1EA0-513D-8216-7ADCF43D64FA}" dt="2026-08-15T11:32:16.070" v="332" actId="478"/>
          <ac:graphicFrameMkLst>
            <pc:docMk/>
            <pc:sldMk cId="3170537333" sldId="257"/>
            <ac:graphicFrameMk id="4" creationId="{80BF8DE5-8FF1-C7A7-617E-0EA067536BC7}"/>
          </ac:graphicFrameMkLst>
        </pc:graphicFrameChg>
      </pc:sldChg>
      <pc:sldChg chg="addSp delSp modSp add mod">
        <pc:chgData name="Matasma Decision Systems" userId="9b03e83d-e285-40f6-aa4e-7c4adb2de517" providerId="ADAL" clId="{CC2EEBC2-1EA0-513D-8216-7ADCF43D64FA}" dt="2026-08-15T11:33:15.742" v="335" actId="20577"/>
        <pc:sldMkLst>
          <pc:docMk/>
          <pc:sldMk cId="289761575" sldId="258"/>
        </pc:sldMkLst>
        <pc:spChg chg="add mod">
          <ac:chgData name="Matasma Decision Systems" userId="9b03e83d-e285-40f6-aa4e-7c4adb2de517" providerId="ADAL" clId="{CC2EEBC2-1EA0-513D-8216-7ADCF43D64FA}" dt="2026-08-15T11:26:59.538" v="108" actId="20577"/>
          <ac:spMkLst>
            <pc:docMk/>
            <pc:sldMk cId="289761575" sldId="258"/>
            <ac:spMk id="2" creationId="{124535C5-EA3C-04AE-378B-9C64648E3F1A}"/>
          </ac:spMkLst>
        </pc:spChg>
        <pc:spChg chg="mod">
          <ac:chgData name="Matasma Decision Systems" userId="9b03e83d-e285-40f6-aa4e-7c4adb2de517" providerId="ADAL" clId="{CC2EEBC2-1EA0-513D-8216-7ADCF43D64FA}" dt="2026-08-15T11:24:51.442" v="5" actId="20577"/>
          <ac:spMkLst>
            <pc:docMk/>
            <pc:sldMk cId="289761575" sldId="258"/>
            <ac:spMk id="5" creationId="{E34DA324-5510-91C8-3375-28C90ED44138}"/>
          </ac:spMkLst>
        </pc:spChg>
        <pc:spChg chg="del">
          <ac:chgData name="Matasma Decision Systems" userId="9b03e83d-e285-40f6-aa4e-7c4adb2de517" providerId="ADAL" clId="{CC2EEBC2-1EA0-513D-8216-7ADCF43D64FA}" dt="2026-08-15T11:24:57.275" v="6" actId="478"/>
          <ac:spMkLst>
            <pc:docMk/>
            <pc:sldMk cId="289761575" sldId="258"/>
            <ac:spMk id="6" creationId="{9DBF3FCF-8C7C-6577-8FCF-D97A21EB87EB}"/>
          </ac:spMkLst>
        </pc:spChg>
        <pc:spChg chg="mod">
          <ac:chgData name="Matasma Decision Systems" userId="9b03e83d-e285-40f6-aa4e-7c4adb2de517" providerId="ADAL" clId="{CC2EEBC2-1EA0-513D-8216-7ADCF43D64FA}" dt="2026-08-15T11:30:54.557" v="330" actId="20577"/>
          <ac:spMkLst>
            <pc:docMk/>
            <pc:sldMk cId="289761575" sldId="258"/>
            <ac:spMk id="7" creationId="{9BA24BD7-2C33-370E-C249-395379B6CF16}"/>
          </ac:spMkLst>
        </pc:spChg>
        <pc:spChg chg="del">
          <ac:chgData name="Matasma Decision Systems" userId="9b03e83d-e285-40f6-aa4e-7c4adb2de517" providerId="ADAL" clId="{CC2EEBC2-1EA0-513D-8216-7ADCF43D64FA}" dt="2026-08-15T11:25:00.667" v="7" actId="478"/>
          <ac:spMkLst>
            <pc:docMk/>
            <pc:sldMk cId="289761575" sldId="258"/>
            <ac:spMk id="8" creationId="{5576F47F-3E3D-7DE7-22D1-3BC9731A76C6}"/>
          </ac:spMkLst>
        </pc:spChg>
        <pc:spChg chg="mod">
          <ac:chgData name="Matasma Decision Systems" userId="9b03e83d-e285-40f6-aa4e-7c4adb2de517" providerId="ADAL" clId="{CC2EEBC2-1EA0-513D-8216-7ADCF43D64FA}" dt="2026-08-15T11:33:15.742" v="335" actId="20577"/>
          <ac:spMkLst>
            <pc:docMk/>
            <pc:sldMk cId="289761575" sldId="258"/>
            <ac:spMk id="9" creationId="{D2F070A5-35BD-5F59-D5F5-A2E97FA62EE9}"/>
          </ac:spMkLst>
        </pc:spChg>
        <pc:spChg chg="mod">
          <ac:chgData name="Matasma Decision Systems" userId="9b03e83d-e285-40f6-aa4e-7c4adb2de517" providerId="ADAL" clId="{CC2EEBC2-1EA0-513D-8216-7ADCF43D64FA}" dt="2026-08-15T11:28:16.604" v="211" actId="20577"/>
          <ac:spMkLst>
            <pc:docMk/>
            <pc:sldMk cId="289761575" sldId="258"/>
            <ac:spMk id="10" creationId="{43FD07BF-4EDB-C6B6-A854-362A68D07A05}"/>
          </ac:spMkLst>
        </pc:spChg>
        <pc:graphicFrameChg chg="del">
          <ac:chgData name="Matasma Decision Systems" userId="9b03e83d-e285-40f6-aa4e-7c4adb2de517" providerId="ADAL" clId="{CC2EEBC2-1EA0-513D-8216-7ADCF43D64FA}" dt="2026-08-15T11:24:43.906" v="1" actId="478"/>
          <ac:graphicFrameMkLst>
            <pc:docMk/>
            <pc:sldMk cId="289761575" sldId="258"/>
            <ac:graphicFrameMk id="4" creationId="{07FFA95A-ECE2-2D02-6EF2-68BBCB8EDB2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27B2-90B9-7D9C-1180-AF991C975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87288-FB88-0616-0160-2A1848006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C3485-3CA3-61C8-B64A-23221DDF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5882-7A8E-1045-980B-9A557E3BD543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2D060-E4DA-4C43-6183-7B920843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86DFB-E451-9FB3-895E-02431990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423B6-78D5-E54C-BF5A-9340A0941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7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F20D4-01CE-DE5D-8DA7-C8F532706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3914D-9427-E3D4-A4C7-5D8D57AD9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53879-037D-2DB7-4687-AE50DCCBD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5882-7A8E-1045-980B-9A557E3BD543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E7CD4-AC61-5EC7-2E91-B38344CBF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061BD-FF85-6A83-4789-35408C3DE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423B6-78D5-E54C-BF5A-9340A0941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6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656BA-6BB4-9844-02CD-2EA554AC4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4C6C4-9BE8-53DB-464A-8D67E806C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470A0-9CA3-9A24-A0ED-3326436F1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5882-7A8E-1045-980B-9A557E3BD543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1C925-1F50-C468-E1B6-A4FD3444F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F314D-C18D-4BBC-CD8C-AEC952A4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423B6-78D5-E54C-BF5A-9340A0941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0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317E6-79D2-C0F9-53B3-1092F7F73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CCD3E-786C-2AEE-211B-4133D0D86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EDD82-0384-F522-4A14-9941AB4C0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5A6A4-B5F5-535F-2012-4ECD6DFB2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5882-7A8E-1045-980B-9A557E3BD543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CCE18-3FC3-33CC-B9A1-C217EE8C3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73BCF-2B41-7CCE-E406-B547D8FD0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423B6-78D5-E54C-BF5A-9340A0941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97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F299-54CF-12C1-7519-710FB860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8F514-793C-F8B5-9BB3-ED41DA333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1B52D-E2A0-C4B0-9769-B42D6C077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27F1AD-99A9-B0A6-ABBA-B1B9FB7EE9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403BF3-249A-40B3-9F4B-98FF4A99D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0734B9-CB81-CFB4-1E59-3668D68C5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5882-7A8E-1045-980B-9A557E3BD543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4779B2-2032-AA33-A38C-00172C84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2FA08-232B-E5E5-CB6B-E0DCAFF2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423B6-78D5-E54C-BF5A-9340A0941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52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78741-488E-EA3C-7887-3177A933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E5F37-B02C-6BB0-658B-06FF8D845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5882-7A8E-1045-980B-9A557E3BD543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B6503-7AA9-5CA6-3D2E-EB68E4ED0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9BB5E-BF92-87FA-E042-44C970DA0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423B6-78D5-E54C-BF5A-9340A0941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6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3917D3-19A0-EEE4-D20A-B0A8C0BF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5882-7A8E-1045-980B-9A557E3BD543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301972-5D42-4187-7724-FA0EA386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58BFE-1967-3DA6-A918-422EDB1C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423B6-78D5-E54C-BF5A-9340A0941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120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57DD9-DC0C-D85C-7929-F830C9A2C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F10B9-988B-CFEC-B9E3-1C635E862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D58C95-81A2-3023-BECF-6B8D2E6DE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B12C2-FC2D-8628-1A07-4D1EFC28D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5882-7A8E-1045-980B-9A557E3BD543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FFB18-F397-42A8-3834-0969F0BE8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26FD9-493D-0BD8-5A09-44CFE7FA4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423B6-78D5-E54C-BF5A-9340A0941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7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43791-C221-DDA9-97EE-35951A43B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AC9FE3-81F7-A059-07EB-6C85700B83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57CF3-BAFE-5BC9-2440-BA7F79CF6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59983-BBB0-57B5-9B4A-2ADB913CB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5882-7A8E-1045-980B-9A557E3BD543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79D6B-A182-F88C-C226-6FE5BDEA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7B7D9-0A3F-8294-B437-F8F4119A0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423B6-78D5-E54C-BF5A-9340A0941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73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1030-F67F-24F5-F8E3-8CCC6422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C8DF1-14CD-7AAF-18AD-CD9A791C0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804D-A95A-DE82-52B0-297E87D87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5882-7A8E-1045-980B-9A557E3BD543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9FC6D-6E5A-7E47-759F-050BA89F6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C2BF2-BEB7-650B-7614-002F2EC1C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423B6-78D5-E54C-BF5A-9340A0941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71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581862-1473-0398-A917-067FE5DC1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E79B2-B6F5-4785-0706-7BE2AB883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C564C-10E7-2D41-C00E-B92D8648A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5882-7A8E-1045-980B-9A557E3BD543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FAC7A-6976-9889-9EB0-8300B470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481E8-1F7B-6F3F-5C3E-7102F6A5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423B6-78D5-E54C-BF5A-9340A0941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11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5DDA0E-12A0-E194-47CB-3620D4E8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EBBC5-378F-5DD6-47E4-EE8B4BEE3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5DCB0-624D-7C08-8962-9F67D38FF4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75882-7A8E-1045-980B-9A557E3BD543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B122F-E6B6-C588-4C53-FF91253E6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B6740-034B-7427-4933-7ABE874BF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423B6-78D5-E54C-BF5A-9340A0941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71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FB377-C597-9891-F7E5-A4A3E6C22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34DA324-5510-91C8-3375-28C90ED44138}"/>
              </a:ext>
            </a:extLst>
          </p:cNvPr>
          <p:cNvSpPr txBox="1">
            <a:spLocks/>
          </p:cNvSpPr>
          <p:nvPr/>
        </p:nvSpPr>
        <p:spPr>
          <a:xfrm>
            <a:off x="257285" y="268474"/>
            <a:ext cx="10450800" cy="38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9999"/>
                </a:solidFill>
              </a:rPr>
              <a:t>Balance Sheet – Assets</a:t>
            </a:r>
            <a:r>
              <a:rPr lang="en-US" sz="2400" b="1" dirty="0">
                <a:solidFill>
                  <a:srgbClr val="007BC0"/>
                </a:solidFill>
              </a:rPr>
              <a:t> </a:t>
            </a:r>
            <a:r>
              <a:rPr lang="en-US" sz="2400" b="1" dirty="0">
                <a:solidFill>
                  <a:srgbClr val="D40694"/>
                </a:solidFill>
              </a:rPr>
              <a:t>as of XX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24BD7-2C33-370E-C249-395379B6CF16}"/>
              </a:ext>
            </a:extLst>
          </p:cNvPr>
          <p:cNvSpPr txBox="1"/>
          <p:nvPr/>
        </p:nvSpPr>
        <p:spPr>
          <a:xfrm>
            <a:off x="5950766" y="834784"/>
            <a:ext cx="5870912" cy="51884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1" kern="0" dirty="0">
                <a:solidFill>
                  <a:schemeClr val="tx1"/>
                </a:solidFill>
              </a:rPr>
              <a:t>Cash &amp; Cash equivalents:</a:t>
            </a:r>
          </a:p>
          <a:p>
            <a:pPr algn="just">
              <a:spcBef>
                <a:spcPts val="500"/>
              </a:spcBef>
            </a:pPr>
            <a:r>
              <a:rPr lang="en-US" sz="1000" kern="0" dirty="0">
                <a:latin typeface="Segoe UI" panose="020B0502040204020203" pitchFamily="34" charset="0"/>
                <a:cs typeface="Segoe UI" panose="020B0502040204020203" pitchFamily="34" charset="0"/>
              </a:rPr>
              <a:t>(Pointers on cash and cash equivalents)</a:t>
            </a:r>
          </a:p>
          <a:p>
            <a:pPr marL="171450" marR="0" indent="-171450" algn="just" defTabSz="91440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sz="1000" kern="0" dirty="0">
              <a:solidFill>
                <a:srgbClr val="ED0007"/>
              </a:solidFill>
            </a:endParaRPr>
          </a:p>
          <a:p>
            <a:pPr marR="0" algn="l" defTabSz="91440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1" kern="0" dirty="0">
                <a:solidFill>
                  <a:schemeClr val="tx1"/>
                </a:solidFill>
              </a:rPr>
              <a:t>Trade Receivables:</a:t>
            </a:r>
          </a:p>
          <a:p>
            <a:pPr algn="just">
              <a:spcBef>
                <a:spcPts val="500"/>
              </a:spcBef>
            </a:pPr>
            <a:r>
              <a:rPr lang="en-US" sz="1000" kern="0" dirty="0">
                <a:latin typeface="Segoe UI" panose="020B0502040204020203" pitchFamily="34" charset="0"/>
                <a:cs typeface="Segoe UI" panose="020B0502040204020203" pitchFamily="34" charset="0"/>
              </a:rPr>
              <a:t>(Pointers on trade receivables)</a:t>
            </a:r>
          </a:p>
          <a:p>
            <a:pPr marR="0" algn="just" defTabSz="91440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1" i="1" kern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R="0" algn="just" defTabSz="91440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1" i="1" kern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(Includes Unbilled Revenue, GMR, 859 mINR noncurrent) </a:t>
            </a:r>
          </a:p>
          <a:p>
            <a:pPr marR="0" algn="l" defTabSz="91440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000" b="1" kern="0" dirty="0">
              <a:solidFill>
                <a:srgbClr val="ED0007"/>
              </a:solidFill>
            </a:endParaRPr>
          </a:p>
          <a:p>
            <a:pPr marR="0" algn="l" defTabSz="91440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1" kern="0" dirty="0">
                <a:solidFill>
                  <a:schemeClr val="tx1"/>
                </a:solidFill>
              </a:rPr>
              <a:t>Other current assets:</a:t>
            </a:r>
          </a:p>
          <a:p>
            <a:pPr>
              <a:spcBef>
                <a:spcPts val="100"/>
              </a:spcBef>
            </a:pPr>
            <a:r>
              <a:rPr lang="en-US" sz="1000" kern="0" dirty="0">
                <a:latin typeface="Segoe UI" panose="020B0502040204020203" pitchFamily="34" charset="0"/>
                <a:cs typeface="Segoe UI" panose="020B0502040204020203" pitchFamily="34" charset="0"/>
              </a:rPr>
              <a:t>(Pointers on current assets)</a:t>
            </a:r>
          </a:p>
          <a:p>
            <a:pPr marR="0" algn="l" defTabSz="91440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000" b="1" kern="0" dirty="0">
              <a:solidFill>
                <a:schemeClr val="tx1"/>
              </a:solidFill>
            </a:endParaRPr>
          </a:p>
          <a:p>
            <a:pPr marR="0" algn="l" defTabSz="91440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1" kern="0" dirty="0">
                <a:solidFill>
                  <a:schemeClr val="tx1"/>
                </a:solidFill>
              </a:rPr>
              <a:t>Investments in Group Entities:</a:t>
            </a:r>
          </a:p>
          <a:p>
            <a:pPr>
              <a:spcBef>
                <a:spcPts val="100"/>
              </a:spcBef>
            </a:pPr>
            <a:r>
              <a:rPr lang="en-US" sz="1000" kern="0" dirty="0">
                <a:latin typeface="Segoe UI" panose="020B0502040204020203" pitchFamily="34" charset="0"/>
                <a:cs typeface="Segoe UI" panose="020B0502040204020203" pitchFamily="34" charset="0"/>
              </a:rPr>
              <a:t>(Pointers on investments in group entities)</a:t>
            </a:r>
          </a:p>
          <a:p>
            <a:pPr marR="0" algn="l" defTabSz="91440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000" b="1" kern="0" dirty="0">
              <a:solidFill>
                <a:srgbClr val="ED0007"/>
              </a:solidFill>
            </a:endParaRPr>
          </a:p>
          <a:p>
            <a:pPr marR="0" algn="l" defTabSz="91440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1" kern="0" dirty="0">
                <a:solidFill>
                  <a:schemeClr val="tx1"/>
                </a:solidFill>
              </a:rPr>
              <a:t>Fixed Assets:</a:t>
            </a:r>
          </a:p>
          <a:p>
            <a:pPr>
              <a:spcBef>
                <a:spcPts val="100"/>
              </a:spcBef>
            </a:pPr>
            <a:r>
              <a:rPr lang="en-US" sz="1000" kern="0" dirty="0">
                <a:latin typeface="Segoe UI" panose="020B0502040204020203" pitchFamily="34" charset="0"/>
                <a:cs typeface="Segoe UI" panose="020B0502040204020203" pitchFamily="34" charset="0"/>
              </a:rPr>
              <a:t>(Pointers on fixed assets)</a:t>
            </a:r>
          </a:p>
          <a:p>
            <a:pPr marR="0" algn="l" defTabSz="91440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000" b="1" kern="0" dirty="0">
              <a:solidFill>
                <a:srgbClr val="ED0007"/>
              </a:solidFill>
            </a:endParaRPr>
          </a:p>
          <a:p>
            <a:pPr marR="0" algn="l" defTabSz="91440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1" kern="0" dirty="0">
                <a:solidFill>
                  <a:schemeClr val="tx1"/>
                </a:solidFill>
              </a:rPr>
              <a:t>Other Noncurrent assets:</a:t>
            </a:r>
          </a:p>
          <a:p>
            <a:pPr algn="just">
              <a:spcBef>
                <a:spcPts val="500"/>
              </a:spcBef>
            </a:pPr>
            <a:r>
              <a:rPr lang="en-US" sz="1000" kern="0" dirty="0">
                <a:latin typeface="Segoe UI" panose="020B0502040204020203" pitchFamily="34" charset="0"/>
                <a:cs typeface="Segoe UI" panose="020B0502040204020203" pitchFamily="34" charset="0"/>
              </a:rPr>
              <a:t>(Pointers on non-current assets)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kern="0" dirty="0">
                <a:solidFill>
                  <a:srgbClr val="ED0007"/>
                </a:solidFill>
              </a:rPr>
              <a:t> </a:t>
            </a:r>
            <a:endParaRPr kumimoji="0" lang="en-US" sz="100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F070A5-35BD-5F59-D5F5-A2E97FA62EE9}"/>
              </a:ext>
            </a:extLst>
          </p:cNvPr>
          <p:cNvSpPr txBox="1"/>
          <p:nvPr/>
        </p:nvSpPr>
        <p:spPr>
          <a:xfrm>
            <a:off x="257286" y="3956768"/>
            <a:ext cx="2890144" cy="1015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600" b="1" i="1" kern="0" dirty="0">
                <a:solidFill>
                  <a:srgbClr val="C00000"/>
                </a:solidFill>
              </a:rPr>
              <a:t>Notes: &lt;if there is any note from the bar graph&gt;</a:t>
            </a:r>
            <a:endParaRPr kumimoji="0" lang="en-US" sz="600" b="1" i="1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D07BF-4EDB-C6B6-A854-362A68D07A05}"/>
              </a:ext>
            </a:extLst>
          </p:cNvPr>
          <p:cNvSpPr txBox="1"/>
          <p:nvPr/>
        </p:nvSpPr>
        <p:spPr>
          <a:xfrm>
            <a:off x="257285" y="4262559"/>
            <a:ext cx="5463048" cy="15582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Key pointers on old balances: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1" kern="0" dirty="0"/>
              <a:t>Trade receivables: </a:t>
            </a:r>
          </a:p>
          <a:p>
            <a:pPr marR="0" algn="just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kern="0" dirty="0">
                <a:latin typeface="Segoe UI" panose="020B0502040204020203" pitchFamily="34" charset="0"/>
                <a:cs typeface="Segoe UI" panose="020B0502040204020203" pitchFamily="34" charset="0"/>
              </a:rPr>
              <a:t>(Pointers on trade receivables)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1" kern="0" dirty="0"/>
              <a:t>Other current assets: </a:t>
            </a:r>
          </a:p>
          <a:p>
            <a:pPr algn="just">
              <a:spcBef>
                <a:spcPts val="500"/>
              </a:spcBef>
            </a:pPr>
            <a:r>
              <a:rPr lang="en-US" sz="1000" kern="0" dirty="0">
                <a:latin typeface="Segoe UI" panose="020B0502040204020203" pitchFamily="34" charset="0"/>
                <a:cs typeface="Segoe UI" panose="020B0502040204020203" pitchFamily="34" charset="0"/>
              </a:rPr>
              <a:t>(Pointers on current assets)</a:t>
            </a:r>
            <a:endParaRPr lang="en-US" sz="1000" kern="0" dirty="0">
              <a:solidFill>
                <a:srgbClr val="ED0007"/>
              </a:solidFill>
            </a:endParaRP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24535C5-EA3C-04AE-378B-9C64648E3F1A}"/>
              </a:ext>
            </a:extLst>
          </p:cNvPr>
          <p:cNvSpPr/>
          <p:nvPr/>
        </p:nvSpPr>
        <p:spPr>
          <a:xfrm>
            <a:off x="425302" y="999460"/>
            <a:ext cx="4890977" cy="27219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Placeholder for bar graph: representing change in Asset type between two time periods</a:t>
            </a:r>
          </a:p>
        </p:txBody>
      </p:sp>
    </p:spTree>
    <p:extLst>
      <p:ext uri="{BB962C8B-B14F-4D97-AF65-F5344CB8AC3E}">
        <p14:creationId xmlns:p14="http://schemas.microsoft.com/office/powerpoint/2010/main" val="289761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DB95BE0-20EB-9FEE-BA3A-62984C6797BE}"/>
              </a:ext>
            </a:extLst>
          </p:cNvPr>
          <p:cNvSpPr txBox="1">
            <a:spLocks/>
          </p:cNvSpPr>
          <p:nvPr/>
        </p:nvSpPr>
        <p:spPr>
          <a:xfrm>
            <a:off x="428502" y="487016"/>
            <a:ext cx="10450800" cy="38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9999"/>
                </a:solidFill>
              </a:rPr>
              <a:t>Balance Sheet – Liabilities</a:t>
            </a:r>
            <a:r>
              <a:rPr lang="en-US" sz="2400" b="1" dirty="0">
                <a:solidFill>
                  <a:srgbClr val="007BC0"/>
                </a:solidFill>
              </a:rPr>
              <a:t> </a:t>
            </a:r>
            <a:r>
              <a:rPr lang="en-US" sz="2400" b="1" dirty="0">
                <a:solidFill>
                  <a:srgbClr val="D40694"/>
                </a:solidFill>
              </a:rPr>
              <a:t>as </a:t>
            </a:r>
            <a:r>
              <a:rPr lang="en-US" sz="2400" b="1">
                <a:solidFill>
                  <a:srgbClr val="D40694"/>
                </a:solidFill>
              </a:rPr>
              <a:t>of XX</a:t>
            </a:r>
            <a:endParaRPr lang="en-US" sz="2400" b="1" dirty="0">
              <a:solidFill>
                <a:srgbClr val="D4069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8205A-202C-9061-DD56-A1F077DAB07E}"/>
              </a:ext>
            </a:extLst>
          </p:cNvPr>
          <p:cNvSpPr txBox="1"/>
          <p:nvPr/>
        </p:nvSpPr>
        <p:spPr>
          <a:xfrm>
            <a:off x="6096000" y="981392"/>
            <a:ext cx="5065562" cy="489521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200"/>
              </a:spcBef>
              <a:spcAft>
                <a:spcPts val="0"/>
              </a:spcAft>
            </a:pPr>
            <a:r>
              <a:rPr lang="en-US" sz="1000" b="1" kern="0" dirty="0">
                <a:solidFill>
                  <a:schemeClr val="tx1"/>
                </a:solidFill>
              </a:rPr>
              <a:t>Trade Payables: </a:t>
            </a:r>
          </a:p>
          <a:p>
            <a:pPr algn="just">
              <a:spcBef>
                <a:spcPts val="500"/>
              </a:spcBef>
            </a:pPr>
            <a:r>
              <a:rPr lang="en-US" sz="1000" kern="0" dirty="0">
                <a:latin typeface="Segoe UI" panose="020B0502040204020203" pitchFamily="34" charset="0"/>
                <a:cs typeface="Segoe UI" panose="020B0502040204020203" pitchFamily="34" charset="0"/>
              </a:rPr>
              <a:t>(Pointers on trade payables)</a:t>
            </a:r>
          </a:p>
          <a:p>
            <a:pPr fontAlgn="auto">
              <a:spcBef>
                <a:spcPts val="200"/>
              </a:spcBef>
              <a:spcAft>
                <a:spcPts val="0"/>
              </a:spcAft>
            </a:pPr>
            <a:endParaRPr lang="en-US" sz="1000" b="1" kern="0" dirty="0">
              <a:solidFill>
                <a:srgbClr val="ED0007"/>
              </a:solidFill>
            </a:endParaRPr>
          </a:p>
          <a:p>
            <a:pPr fontAlgn="auto">
              <a:spcBef>
                <a:spcPts val="200"/>
              </a:spcBef>
              <a:spcAft>
                <a:spcPts val="0"/>
              </a:spcAft>
            </a:pPr>
            <a:r>
              <a:rPr lang="en-US" sz="1000" b="1" kern="0" dirty="0">
                <a:solidFill>
                  <a:schemeClr val="tx1"/>
                </a:solidFill>
              </a:rPr>
              <a:t>Other Liabilities:</a:t>
            </a:r>
          </a:p>
          <a:p>
            <a:pPr marL="171450" indent="-171450" fontAlgn="auto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000" kern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Derivative contracts - pointers</a:t>
            </a:r>
          </a:p>
          <a:p>
            <a:pPr marL="171450" indent="-171450" fontAlgn="auto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000" kern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Employee payables – pointers</a:t>
            </a:r>
          </a:p>
          <a:p>
            <a:pPr marL="171450" indent="-171450" fontAlgn="auto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000" kern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Bonus Provisions – pointers</a:t>
            </a:r>
          </a:p>
          <a:p>
            <a:pPr marL="171450" indent="-171450" fontAlgn="auto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000" kern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Contract Liabilities (Deferred Revenue) – pointers</a:t>
            </a:r>
          </a:p>
          <a:p>
            <a:pPr fontAlgn="auto">
              <a:spcBef>
                <a:spcPts val="200"/>
              </a:spcBef>
              <a:spcAft>
                <a:spcPts val="0"/>
              </a:spcAft>
            </a:pPr>
            <a:endParaRPr lang="en-US" sz="1000" kern="0" dirty="0">
              <a:solidFill>
                <a:schemeClr val="tx1"/>
              </a:solidFill>
            </a:endParaRP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sz="1000" b="1" kern="0" dirty="0">
                <a:solidFill>
                  <a:schemeClr val="tx1"/>
                </a:solidFill>
              </a:rPr>
              <a:t>Non-Current Liabilities &amp; Provisions:</a:t>
            </a:r>
          </a:p>
          <a:p>
            <a:pPr>
              <a:spcBef>
                <a:spcPts val="500"/>
              </a:spcBef>
            </a:pPr>
            <a:r>
              <a:rPr lang="en-US" sz="1000" kern="0" dirty="0">
                <a:latin typeface="Segoe UI" panose="020B0502040204020203" pitchFamily="34" charset="0"/>
                <a:cs typeface="Segoe UI" panose="020B0502040204020203" pitchFamily="34" charset="0"/>
              </a:rPr>
              <a:t>(Pointers on non-current liabilities and provisions)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endParaRPr lang="en-US" sz="1000" b="1" kern="0" dirty="0">
              <a:solidFill>
                <a:schemeClr val="tx1"/>
              </a:solidFill>
            </a:endParaRPr>
          </a:p>
          <a:p>
            <a:pPr marR="0" algn="l" defTabSz="914400" eaLnBrk="1" fontAlgn="auto" latinLnBrk="0" hangingPunct="1">
              <a:spcBef>
                <a:spcPts val="300"/>
              </a:spcBef>
              <a:spcAft>
                <a:spcPts val="0"/>
              </a:spcAft>
              <a:buClrTx/>
              <a:buSzTx/>
              <a:tabLst/>
            </a:pPr>
            <a:endParaRPr kumimoji="0" lang="en-US" sz="100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CC5EA7-4E92-6F6C-1D8A-AE1D80B319CB}"/>
              </a:ext>
            </a:extLst>
          </p:cNvPr>
          <p:cNvSpPr txBox="1"/>
          <p:nvPr/>
        </p:nvSpPr>
        <p:spPr>
          <a:xfrm>
            <a:off x="495528" y="4002119"/>
            <a:ext cx="2126495" cy="1366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500"/>
              </a:spcBef>
            </a:pPr>
            <a:r>
              <a:rPr lang="en-US" sz="600" b="1" i="1" kern="0" dirty="0">
                <a:solidFill>
                  <a:srgbClr val="C00000"/>
                </a:solidFill>
              </a:rPr>
              <a:t>*Notes: &lt;if there is any note from the bar graph&gt;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600" b="1" i="1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21DA74-23DA-7A90-AF79-C5426C3054ED}"/>
              </a:ext>
            </a:extLst>
          </p:cNvPr>
          <p:cNvSpPr txBox="1"/>
          <p:nvPr/>
        </p:nvSpPr>
        <p:spPr>
          <a:xfrm>
            <a:off x="495529" y="4201453"/>
            <a:ext cx="5333620" cy="17991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Key pointers on old balances: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1" kern="0" dirty="0"/>
              <a:t>HR related balances</a:t>
            </a:r>
          </a:p>
          <a:p>
            <a:pPr algn="just">
              <a:spcBef>
                <a:spcPts val="500"/>
              </a:spcBef>
            </a:pPr>
            <a:r>
              <a:rPr lang="en-US" sz="1000" kern="0" dirty="0">
                <a:latin typeface="Segoe UI" panose="020B0502040204020203" pitchFamily="34" charset="0"/>
                <a:cs typeface="Segoe UI" panose="020B0502040204020203" pitchFamily="34" charset="0"/>
              </a:rPr>
              <a:t>Pointers on trade receivables)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b="1" kern="0" dirty="0"/>
              <a:t>Provisions for Taxes</a:t>
            </a:r>
          </a:p>
          <a:p>
            <a:pPr algn="just">
              <a:spcBef>
                <a:spcPts val="500"/>
              </a:spcBef>
            </a:pPr>
            <a:r>
              <a:rPr lang="en-US" sz="1000" kern="0" dirty="0">
                <a:latin typeface="Segoe UI" panose="020B0502040204020203" pitchFamily="34" charset="0"/>
                <a:cs typeface="Segoe UI" panose="020B0502040204020203" pitchFamily="34" charset="0"/>
              </a:rPr>
              <a:t>Pointers on provisions for taxes)</a:t>
            </a:r>
          </a:p>
          <a:p>
            <a:pPr marL="171450" marR="0" indent="-1714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sz="1000" kern="0" dirty="0"/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000" kern="0" dirty="0"/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000" kern="0" dirty="0"/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1E8F4E6-422B-BAF6-9AEE-83725AE1EF47}"/>
              </a:ext>
            </a:extLst>
          </p:cNvPr>
          <p:cNvSpPr/>
          <p:nvPr/>
        </p:nvSpPr>
        <p:spPr>
          <a:xfrm>
            <a:off x="425302" y="999460"/>
            <a:ext cx="4890977" cy="27219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Placeholder for bar graph: representing change in Asset type between two time periods</a:t>
            </a:r>
          </a:p>
        </p:txBody>
      </p:sp>
    </p:spTree>
    <p:extLst>
      <p:ext uri="{BB962C8B-B14F-4D97-AF65-F5344CB8AC3E}">
        <p14:creationId xmlns:p14="http://schemas.microsoft.com/office/powerpoint/2010/main" val="3170537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238</Words>
  <Application>Microsoft Macintosh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Gajendra Mohan Jha</dc:creator>
  <cp:lastModifiedBy>Gajendra Mohan Jha</cp:lastModifiedBy>
  <cp:revision>1</cp:revision>
  <dcterms:created xsi:type="dcterms:W3CDTF">2026-08-15T08:18:30Z</dcterms:created>
  <dcterms:modified xsi:type="dcterms:W3CDTF">2026-08-15T11:36:13Z</dcterms:modified>
</cp:coreProperties>
</file>