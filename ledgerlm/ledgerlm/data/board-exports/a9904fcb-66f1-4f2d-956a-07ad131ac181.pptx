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Entity P&amp;L – All entities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93192" y="713232"/>
            <a:ext cx="11155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6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YTD · YOY versus Jul 2025 YTD · Values in INR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84048" y="1042416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6052" y="1074420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 item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258568" y="104241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90572" y="107442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YTD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123944" y="104241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55948" y="107442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2025 YTD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989320" y="104241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21324" y="107442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 2025 YE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854696" y="104241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86700" y="107442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Variance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9720072" y="104241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52076" y="107442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84048" y="1347933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" y="1379937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258568" y="1347933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90572" y="1379937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₹88,419,890,474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123944" y="1347933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55948" y="1379937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989320" y="1347933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21324" y="1379937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854696" y="1347933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86700" y="1379937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9720072" y="1347933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52076" y="1379937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84048" y="1653450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052" y="1685454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Benefits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258568" y="1653450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90572" y="1685454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₹39,499,795,849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123944" y="1653450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55948" y="1685454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989320" y="1653450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21324" y="1685454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854696" y="1653450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86700" y="1685454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9720072" y="1653450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52076" y="1685454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84048" y="1958968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052" y="1990972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Outsourcing Cost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258568" y="1958968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90572" y="1990972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₹138,966,502,496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123944" y="1958968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55948" y="1990972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989320" y="1958968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21324" y="1990972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854696" y="1958968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86700" y="1990972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9720072" y="1958968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752076" y="1990972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84048" y="2264485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6052" y="2296489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Consultancy Charges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258568" y="2264485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90572" y="2296489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₹2,287,260,774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123944" y="2264485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55948" y="2296489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989320" y="2264485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21324" y="2296489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854696" y="2264485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86700" y="2296489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9720072" y="2264485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752076" y="2296489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84048" y="2570002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6052" y="2602006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 Charges &amp; Other Revenue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2258568" y="2570002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90572" y="2602006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₹6,852,650,829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4123944" y="2570002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55948" y="2602006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5989320" y="2570002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021324" y="2602006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7854696" y="2570002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886700" y="2602006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9720072" y="2570002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752076" y="2602006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384048" y="2875519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6052" y="2907523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Facilities Cost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258568" y="2875519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290572" y="2907523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₹12,217,488,405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123944" y="2875519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155948" y="2907523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5989320" y="2875519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21324" y="2907523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7854696" y="2875519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886700" y="2907523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9720072" y="2875519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752076" y="2907523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384048" y="3181036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16052" y="3213040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Expenses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2258568" y="318103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290572" y="321304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₹10,151,804,884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4123944" y="318103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155948" y="321304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5989320" y="318103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021324" y="321304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7854696" y="318103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886700" y="321304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9720072" y="318103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752076" y="321304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384048" y="3486553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16052" y="3518557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Expenses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2258568" y="3486553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290572" y="3518557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₹2,548,013,595,233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4123944" y="3486553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155948" y="3518557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5989320" y="3486553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021324" y="3518557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7854696" y="3486553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886700" y="3518557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9720072" y="3486553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752076" y="3518557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384048" y="3792071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16052" y="3824075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EBIT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2258568" y="3792071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290572" y="3824075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₹-2,459,593,704,760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4123944" y="3792071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155948" y="3824075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5989320" y="3792071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021324" y="3824075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7854696" y="3792071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886700" y="3824075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9720072" y="3792071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752076" y="3824075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384048" y="4097588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16052" y="4129592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EBIT%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2258568" y="4097588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2290572" y="4129592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-2781.7%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4123944" y="4097588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155948" y="4129592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5989320" y="4097588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021324" y="4129592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7854696" y="4097588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7886700" y="4129592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9720072" y="4097588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9752076" y="4129592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384048" y="4403105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16052" y="4435109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Capacity On-roll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2258568" y="4403105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290572" y="4435109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28,671.5</a:t>
            </a:r>
            <a:endParaRPr lang="en-US" sz="700" dirty="0"/>
          </a:p>
        </p:txBody>
      </p:sp>
      <p:sp>
        <p:nvSpPr>
          <p:cNvPr id="140" name="Shape 138"/>
          <p:cNvSpPr/>
          <p:nvPr/>
        </p:nvSpPr>
        <p:spPr>
          <a:xfrm>
            <a:off x="4123944" y="4403105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155948" y="4435109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42" name="Shape 140"/>
          <p:cNvSpPr/>
          <p:nvPr/>
        </p:nvSpPr>
        <p:spPr>
          <a:xfrm>
            <a:off x="5989320" y="4403105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021324" y="4435109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44" name="Shape 142"/>
          <p:cNvSpPr/>
          <p:nvPr/>
        </p:nvSpPr>
        <p:spPr>
          <a:xfrm>
            <a:off x="7854696" y="4403105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7886700" y="4435109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46" name="Shape 144"/>
          <p:cNvSpPr/>
          <p:nvPr/>
        </p:nvSpPr>
        <p:spPr>
          <a:xfrm>
            <a:off x="9720072" y="4403105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9752076" y="4435109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384048" y="4708622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16052" y="4740626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Capacity Outsourcing</a:t>
            </a:r>
            <a:endParaRPr lang="en-US" sz="700" dirty="0"/>
          </a:p>
        </p:txBody>
      </p:sp>
      <p:sp>
        <p:nvSpPr>
          <p:cNvPr id="150" name="Shape 148"/>
          <p:cNvSpPr/>
          <p:nvPr/>
        </p:nvSpPr>
        <p:spPr>
          <a:xfrm>
            <a:off x="2258568" y="4708622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2290572" y="4740626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3,884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4123944" y="4708622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155948" y="4740626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5989320" y="4708622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021324" y="4740626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56" name="Shape 154"/>
          <p:cNvSpPr/>
          <p:nvPr/>
        </p:nvSpPr>
        <p:spPr>
          <a:xfrm>
            <a:off x="7854696" y="4708622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7886700" y="4740626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58" name="Shape 156"/>
          <p:cNvSpPr/>
          <p:nvPr/>
        </p:nvSpPr>
        <p:spPr>
          <a:xfrm>
            <a:off x="9720072" y="4708622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9752076" y="4740626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384048" y="5014139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416052" y="5046143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End</a:t>
            </a:r>
            <a:endParaRPr lang="en-US" sz="700" dirty="0"/>
          </a:p>
        </p:txBody>
      </p:sp>
      <p:sp>
        <p:nvSpPr>
          <p:cNvPr id="162" name="Shape 160"/>
          <p:cNvSpPr/>
          <p:nvPr/>
        </p:nvSpPr>
        <p:spPr>
          <a:xfrm>
            <a:off x="2258568" y="5014139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2290572" y="5046143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32,555.5</a:t>
            </a:r>
            <a:endParaRPr lang="en-US" sz="700" dirty="0"/>
          </a:p>
        </p:txBody>
      </p:sp>
      <p:sp>
        <p:nvSpPr>
          <p:cNvPr id="164" name="Shape 162"/>
          <p:cNvSpPr/>
          <p:nvPr/>
        </p:nvSpPr>
        <p:spPr>
          <a:xfrm>
            <a:off x="4123944" y="5014139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4155948" y="5046143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5989320" y="5014139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6021324" y="5046143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68" name="Shape 166"/>
          <p:cNvSpPr/>
          <p:nvPr/>
        </p:nvSpPr>
        <p:spPr>
          <a:xfrm>
            <a:off x="7854696" y="5014139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7886700" y="5046143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9720072" y="5014139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9752076" y="5046143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384048" y="5319656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416052" y="5351660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 Capacity Overall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2258568" y="531965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2290572" y="535166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4123944" y="531965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4155948" y="535166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5989320" y="531965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6021324" y="535166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80" name="Shape 178"/>
          <p:cNvSpPr/>
          <p:nvPr/>
        </p:nvSpPr>
        <p:spPr>
          <a:xfrm>
            <a:off x="7854696" y="531965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7886700" y="535166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82" name="Shape 180"/>
          <p:cNvSpPr/>
          <p:nvPr/>
        </p:nvSpPr>
        <p:spPr>
          <a:xfrm>
            <a:off x="9720072" y="531965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9752076" y="535166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84" name="Shape 182"/>
          <p:cNvSpPr/>
          <p:nvPr/>
        </p:nvSpPr>
        <p:spPr>
          <a:xfrm>
            <a:off x="384048" y="5625174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416052" y="5657178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 Capacity Outsourcing</a:t>
            </a:r>
            <a:endParaRPr lang="en-US" sz="700" dirty="0"/>
          </a:p>
        </p:txBody>
      </p:sp>
      <p:sp>
        <p:nvSpPr>
          <p:cNvPr id="186" name="Shape 184"/>
          <p:cNvSpPr/>
          <p:nvPr/>
        </p:nvSpPr>
        <p:spPr>
          <a:xfrm>
            <a:off x="2258568" y="5625174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2290572" y="5657178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88" name="Shape 186"/>
          <p:cNvSpPr/>
          <p:nvPr/>
        </p:nvSpPr>
        <p:spPr>
          <a:xfrm>
            <a:off x="4123944" y="5625174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4155948" y="5657178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90" name="Shape 188"/>
          <p:cNvSpPr/>
          <p:nvPr/>
        </p:nvSpPr>
        <p:spPr>
          <a:xfrm>
            <a:off x="5989320" y="5625174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6021324" y="5657178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92" name="Shape 190"/>
          <p:cNvSpPr/>
          <p:nvPr/>
        </p:nvSpPr>
        <p:spPr>
          <a:xfrm>
            <a:off x="7854696" y="5625174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7886700" y="5657178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94" name="Shape 192"/>
          <p:cNvSpPr/>
          <p:nvPr/>
        </p:nvSpPr>
        <p:spPr>
          <a:xfrm>
            <a:off x="9720072" y="5625174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9752076" y="5657178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96" name="Shape 194"/>
          <p:cNvSpPr/>
          <p:nvPr/>
        </p:nvSpPr>
        <p:spPr>
          <a:xfrm>
            <a:off x="384048" y="5930691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416052" y="5962695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Average</a:t>
            </a:r>
            <a:endParaRPr lang="en-US" sz="700" dirty="0"/>
          </a:p>
        </p:txBody>
      </p:sp>
      <p:sp>
        <p:nvSpPr>
          <p:cNvPr id="198" name="Shape 196"/>
          <p:cNvSpPr/>
          <p:nvPr/>
        </p:nvSpPr>
        <p:spPr>
          <a:xfrm>
            <a:off x="2258568" y="5930691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2290572" y="5962695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200" name="Shape 198"/>
          <p:cNvSpPr/>
          <p:nvPr/>
        </p:nvSpPr>
        <p:spPr>
          <a:xfrm>
            <a:off x="4123944" y="5930691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4155948" y="5962695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202" name="Shape 200"/>
          <p:cNvSpPr/>
          <p:nvPr/>
        </p:nvSpPr>
        <p:spPr>
          <a:xfrm>
            <a:off x="5989320" y="5930691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6021324" y="5962695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204" name="Shape 202"/>
          <p:cNvSpPr/>
          <p:nvPr/>
        </p:nvSpPr>
        <p:spPr>
          <a:xfrm>
            <a:off x="7854696" y="5930691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7886700" y="5962695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206" name="Shape 204"/>
          <p:cNvSpPr/>
          <p:nvPr/>
        </p:nvSpPr>
        <p:spPr>
          <a:xfrm>
            <a:off x="9720072" y="5930691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9752076" y="5962695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208" name="Text 206"/>
          <p:cNvSpPr/>
          <p:nvPr/>
        </p:nvSpPr>
        <p:spPr>
          <a:xfrm>
            <a:off x="384048" y="63367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source snapshots are missing (Jul 2025: Revenue Summary and Cost Summary; Dec 2025: Revenue Summary and Cost Summary); affected P&amp;L values are shown as —, not zero.  ·  Capacity snapshots are missing for Jul 2025 YTD, Dec 2025 YE; affected end-capacity values are shown as —.  ·  YTD capacity averages are unavailable because monthly capacity snapshots are incomplete: Jul 2026 YTD (missing Jan 2026, Feb 2026, Mar 2026, Apr 2026, May 2026, Jun 2026); Jul 2025 YTD (missing Jan 2025, Feb 2025, Mar 2025, Apr 2025, May 2025, Jun 2025, Jul 2025); Dec 2025 YE (missing Jan 2025, Feb 2025, Mar 2025, Apr 2025, May 2025, Jun 2025, Jul 2025, Aug 2025, Sep 2025, Oct 2025, Nov 2025, Dec 2025).</a:t>
            </a:r>
            <a:endParaRPr lang="en-US" sz="6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— Deterministic Analysis</dc:title>
  <dc:subject>Entity P&amp;L standalone analysis</dc:subject>
  <dc:creator>LedgerLM</dc:creator>
  <cp:lastModifiedBy>LedgerLM</cp:lastModifiedBy>
  <cp:revision>1</cp:revision>
  <dcterms:created xsi:type="dcterms:W3CDTF">2026-09-29T16:53:52Z</dcterms:created>
  <dcterms:modified xsi:type="dcterms:W3CDTF">2026-09-29T16:53:52Z</dcterms:modified>
</cp:coreProperties>
</file>