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68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97.392956884403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68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434.3121073364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28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5" kern="0" dirty="0">
                <a:solidFill>
                  <a:srgbClr val="439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  /  ASSETS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420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3210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Jun-26 compared with Mar-26  ·  Values in mINR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11237976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66928" y="1353312"/>
          <a:ext cx="1104595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3434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535424"/>
          <a:ext cx="6922008" cy="1682496"/>
        </p:xfrm>
        <a:graphic>
          <a:graphicData uri="http://schemas.openxmlformats.org/drawingml/2006/table">
            <a:tbl>
              <a:tblPr/>
              <a:tblGrid>
                <a:gridCol w="2331720"/>
                <a:gridCol w="1078992"/>
                <a:gridCol w="1078992"/>
                <a:gridCol w="1353312"/>
                <a:gridCol w="1078992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 &amp; Cash equivalents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23,630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16,078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+7,552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 Receivables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15,425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24,659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-9,234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-37.4%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current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8,228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6,679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+1,550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+23.2%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Investments in Group Entities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15,143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18,831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-3,688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Right-of-use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7,945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8,430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-485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10,978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11,192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-1.9%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Noncurrent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12,816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13,077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80960" y="4343400"/>
            <a:ext cx="40233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82128" y="4517136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ATTENTION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82128" y="47274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Old-balance checks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82128" y="492861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Receivables: 15,425 mINR at Jun-26 (16.4% of assets); change -9,234.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equivalents: 23,630 mINR at Jun-26 (25.1% of assets); change +7,552.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82128" y="54772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account movements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82128" y="5678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equivalents: Bank balances ≤ 90 days · +10,460 mINR (+670.2%).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Receivables: Trade receivables - K · -8,737 mINR (-40.8%).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0352" y="6510528"/>
            <a:ext cx="1115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28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5" kern="0" dirty="0">
                <a:solidFill>
                  <a:srgbClr val="439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  /  LIABILITIES &amp; EQUITY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420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3210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Jun-26 compared with Mar-26  ·  Values in mINR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11237976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66928" y="1353312"/>
          <a:ext cx="1104595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3434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535424"/>
          <a:ext cx="6922008" cy="1568196"/>
        </p:xfrm>
        <a:graphic>
          <a:graphicData uri="http://schemas.openxmlformats.org/drawingml/2006/table">
            <a:tbl>
              <a:tblPr/>
              <a:tblGrid>
                <a:gridCol w="2331720"/>
                <a:gridCol w="1078992"/>
                <a:gridCol w="1078992"/>
                <a:gridCol w="1353312"/>
                <a:gridCol w="1078992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Equity &amp; reserves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52,905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57,995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-5,090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 Payables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11,411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9,117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+2,294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Lease liabilities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9,536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10,071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Provisions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4,672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4,224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Liabilities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9,004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10,651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-1,647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-15.5%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Non-current liabilities &amp; provisions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6,637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6,887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80960" y="4343400"/>
            <a:ext cx="40233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82128" y="4517136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ATTENTION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82128" y="47274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Old-balance checks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82128" y="492861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Debt/equity 0.78 vs 0.71; equity ratio 56.2% vs 58.6%.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reserves: 52,905 mINR at Jun-26 (56.2% of assets); change -5,090.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82128" y="54772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account movements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82128" y="5678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Non-current liabilities &amp; provisions: Provisions for pensions, similar oblig. · -1,660 mINR (-100.0%).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Payables: Trade payables  - 3rd, B-c, B-f · +1,459 mINR (+28.9%).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0352" y="6510528"/>
            <a:ext cx="1115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2026-09-28T21:33:40Z</dcterms:created>
  <dcterms:modified xsi:type="dcterms:W3CDTF">2026-09-28T21:33:40Z</dcterms:modified>
</cp:coreProperties>
</file>